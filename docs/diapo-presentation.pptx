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Quattrocento Sans"/>
      <p:regular r:id="rId22"/>
      <p:bold r:id="rId23"/>
      <p:italic r:id="rId24"/>
      <p:boldItalic r:id="rId25"/>
    </p:embeddedFont>
    <p:embeddedFont>
      <p:font typeface="Century Gothic"/>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328">
          <p15:clr>
            <a:srgbClr val="A4A3A4"/>
          </p15:clr>
        </p15:guide>
        <p15:guide id="2" pos="3864">
          <p15:clr>
            <a:srgbClr val="A4A3A4"/>
          </p15:clr>
        </p15:guide>
        <p15:guide id="3" pos="7512">
          <p15:clr>
            <a:srgbClr val="A4A3A4"/>
          </p15:clr>
        </p15:guide>
        <p15:guide id="4" pos="144">
          <p15:clr>
            <a:srgbClr val="A4A3A4"/>
          </p15:clr>
        </p15:guide>
        <p15:guide id="5" orient="horz" pos="624">
          <p15:clr>
            <a:srgbClr val="A4A3A4"/>
          </p15:clr>
        </p15:guide>
        <p15:guide id="6" orient="horz" pos="4056">
          <p15:clr>
            <a:srgbClr val="A4A3A4"/>
          </p15:clr>
        </p15:guide>
      </p15:sldGuideLst>
    </p:ext>
    <p:ext uri="GoogleSlidesCustomDataVersion2">
      <go:slidesCustomData xmlns:go="http://customooxmlschemas.google.com/" r:id="rId30" roundtripDataSignature="AMtx7mjXHKQJNu72yGfKVBudGGNXV+3x8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328" orient="horz"/>
        <p:guide pos="3864"/>
        <p:guide pos="7512"/>
        <p:guide pos="144"/>
        <p:guide pos="624" orient="horz"/>
        <p:guide pos="4056"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QuattrocentoSans-regular.fntdata"/><Relationship Id="rId21" Type="http://schemas.openxmlformats.org/officeDocument/2006/relationships/slide" Target="slides/slide16.xml"/><Relationship Id="rId24" Type="http://schemas.openxmlformats.org/officeDocument/2006/relationships/font" Target="fonts/QuattrocentoSans-italic.fntdata"/><Relationship Id="rId23" Type="http://schemas.openxmlformats.org/officeDocument/2006/relationships/font" Target="fonts/QuattrocentoSa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regular.fntdata"/><Relationship Id="rId25" Type="http://schemas.openxmlformats.org/officeDocument/2006/relationships/font" Target="fonts/QuattrocentoSans-boldItalic.fntdata"/><Relationship Id="rId28" Type="http://schemas.openxmlformats.org/officeDocument/2006/relationships/font" Target="fonts/CenturyGothic-italic.fntdata"/><Relationship Id="rId27" Type="http://schemas.openxmlformats.org/officeDocument/2006/relationships/font" Target="fonts/CenturyGothic-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CenturyGothic-boldItalic.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F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7" name="Google Shape;18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6" name="Google Shape;47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1" name="Google Shape;51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tête de section"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uniquement"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58" name="Shape 58"/>
        <p:cNvGrpSpPr/>
        <p:nvPr/>
      </p:nvGrpSpPr>
      <p:grpSpPr>
        <a:xfrm>
          <a:off x="0" y="0"/>
          <a:ext cx="0" cy="0"/>
          <a:chOff x="0" y="0"/>
          <a:chExt cx="0" cy="0"/>
        </a:xfrm>
      </p:grpSpPr>
      <p:sp>
        <p:nvSpPr>
          <p:cNvPr id="59" name="Google Shape;59;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65" name="Shape 65"/>
        <p:cNvGrpSpPr/>
        <p:nvPr/>
      </p:nvGrpSpPr>
      <p:grpSpPr>
        <a:xfrm>
          <a:off x="0" y="0"/>
          <a:ext cx="0" cy="0"/>
          <a:chOff x="0" y="0"/>
          <a:chExt cx="0" cy="0"/>
        </a:xfrm>
      </p:grpSpPr>
      <p:sp>
        <p:nvSpPr>
          <p:cNvPr id="66" name="Google Shape;66;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6"/>
          <p:cNvSpPr/>
          <p:nvPr>
            <p:ph idx="2" type="pic"/>
          </p:nvPr>
        </p:nvSpPr>
        <p:spPr>
          <a:xfrm>
            <a:off x="5183188" y="987425"/>
            <a:ext cx="6172200" cy="4873625"/>
          </a:xfrm>
          <a:prstGeom prst="rect">
            <a:avLst/>
          </a:prstGeom>
          <a:noFill/>
          <a:ln>
            <a:noFill/>
          </a:ln>
        </p:spPr>
      </p:sp>
      <p:sp>
        <p:nvSpPr>
          <p:cNvPr id="68" name="Google Shape;68;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72" name="Shape 72"/>
        <p:cNvGrpSpPr/>
        <p:nvPr/>
      </p:nvGrpSpPr>
      <p:grpSpPr>
        <a:xfrm>
          <a:off x="0" y="0"/>
          <a:ext cx="0" cy="0"/>
          <a:chOff x="0" y="0"/>
          <a:chExt cx="0" cy="0"/>
        </a:xfrm>
      </p:grpSpPr>
      <p:sp>
        <p:nvSpPr>
          <p:cNvPr id="73" name="Google Shape;73;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78" name="Shape 78"/>
        <p:cNvGrpSpPr/>
        <p:nvPr/>
      </p:nvGrpSpPr>
      <p:grpSpPr>
        <a:xfrm>
          <a:off x="0" y="0"/>
          <a:ext cx="0" cy="0"/>
          <a:chOff x="0" y="0"/>
          <a:chExt cx="0" cy="0"/>
        </a:xfrm>
      </p:grpSpPr>
      <p:sp>
        <p:nvSpPr>
          <p:cNvPr id="79" name="Google Shape;79;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entury Gothic"/>
              <a:buNone/>
              <a:defRPr b="0" i="0" sz="44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Quattrocento Sans"/>
                <a:ea typeface="Quattrocento Sans"/>
                <a:cs typeface="Quattrocento Sans"/>
                <a:sym typeface="Quattrocento Sans"/>
              </a:defRPr>
            </a:lvl1pPr>
            <a:lvl2pPr lvl="1"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2pPr>
            <a:lvl3pPr lvl="2"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3pPr>
            <a:lvl4pPr lvl="3"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4pPr>
            <a:lvl5pPr lvl="4"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5pPr>
            <a:lvl6pPr lvl="5"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6pPr>
            <a:lvl7pPr lvl="6"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7pPr>
            <a:lvl8pPr lvl="7"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8pPr>
            <a:lvl9pPr lvl="8" marR="0" rtl="0" algn="l">
              <a:spcBef>
                <a:spcPts val="0"/>
              </a:spcBef>
              <a:spcAft>
                <a:spcPts val="0"/>
              </a:spcAft>
              <a:buSzPts val="1400"/>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spcBef>
                <a:spcPts val="0"/>
              </a:spcBef>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F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7.png"/><Relationship Id="rId7" Type="http://schemas.openxmlformats.org/officeDocument/2006/relationships/image" Target="../media/image5.png"/><Relationship Id="rId8"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12.png"/><Relationship Id="rId6"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5763"/>
        </a:solidFill>
      </p:bgPr>
    </p:bg>
    <p:spTree>
      <p:nvGrpSpPr>
        <p:cNvPr id="88" name="Shape 88"/>
        <p:cNvGrpSpPr/>
        <p:nvPr/>
      </p:nvGrpSpPr>
      <p:grpSpPr>
        <a:xfrm>
          <a:off x="0" y="0"/>
          <a:ext cx="0" cy="0"/>
          <a:chOff x="0" y="0"/>
          <a:chExt cx="0" cy="0"/>
        </a:xfrm>
      </p:grpSpPr>
      <p:sp>
        <p:nvSpPr>
          <p:cNvPr id="89" name="Google Shape;89;p1"/>
          <p:cNvSpPr/>
          <p:nvPr/>
        </p:nvSpPr>
        <p:spPr>
          <a:xfrm>
            <a:off x="-59267" y="0"/>
            <a:ext cx="12429067" cy="697653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90" name="Google Shape;90;p1"/>
          <p:cNvSpPr txBox="1"/>
          <p:nvPr>
            <p:ph type="ctrTitle"/>
          </p:nvPr>
        </p:nvSpPr>
        <p:spPr>
          <a:xfrm>
            <a:off x="1524000" y="4376036"/>
            <a:ext cx="9144000" cy="1994392"/>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rgbClr val="181DA0"/>
              </a:buClr>
              <a:buSzPts val="4800"/>
              <a:buFont typeface="Century Gothic"/>
              <a:buNone/>
            </a:pPr>
            <a:r>
              <a:rPr b="1" lang="fr-FR" sz="4800">
                <a:solidFill>
                  <a:srgbClr val="181DA0"/>
                </a:solidFill>
              </a:rPr>
              <a:t>MISE EN PLACE D’UN MODELE CONTRE LA FRAUDE MONETAIRE</a:t>
            </a:r>
            <a:endParaRPr sz="4800">
              <a:solidFill>
                <a:srgbClr val="181DA0"/>
              </a:solidFill>
            </a:endParaRPr>
          </a:p>
        </p:txBody>
      </p:sp>
      <p:sp>
        <p:nvSpPr>
          <p:cNvPr id="91" name="Google Shape;91;p1"/>
          <p:cNvSpPr/>
          <p:nvPr/>
        </p:nvSpPr>
        <p:spPr>
          <a:xfrm>
            <a:off x="4792319" y="-608242"/>
            <a:ext cx="2607364" cy="2607364"/>
          </a:xfrm>
          <a:prstGeom prst="diamond">
            <a:avLst/>
          </a:prstGeom>
          <a:noFill/>
          <a:ln cap="flat" cmpd="sng" w="12700">
            <a:solidFill>
              <a:srgbClr val="7171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92" name="Google Shape;92;p1"/>
          <p:cNvSpPr/>
          <p:nvPr/>
        </p:nvSpPr>
        <p:spPr>
          <a:xfrm>
            <a:off x="4325258" y="-1770743"/>
            <a:ext cx="3541486" cy="3541486"/>
          </a:xfrm>
          <a:prstGeom prst="diamond">
            <a:avLst/>
          </a:prstGeom>
          <a:noFill/>
          <a:ln cap="flat" cmpd="sng" w="127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Quattrocento Sans"/>
              <a:ea typeface="Quattrocento Sans"/>
              <a:cs typeface="Quattrocento Sans"/>
              <a:sym typeface="Quattrocento Sans"/>
            </a:endParaRPr>
          </a:p>
        </p:txBody>
      </p:sp>
      <p:cxnSp>
        <p:nvCxnSpPr>
          <p:cNvPr id="93" name="Google Shape;93;p1"/>
          <p:cNvCxnSpPr/>
          <p:nvPr/>
        </p:nvCxnSpPr>
        <p:spPr>
          <a:xfrm>
            <a:off x="4461496" y="4169605"/>
            <a:ext cx="3269008" cy="0"/>
          </a:xfrm>
          <a:prstGeom prst="straightConnector1">
            <a:avLst/>
          </a:prstGeom>
          <a:noFill/>
          <a:ln cap="flat" cmpd="sng" w="28575">
            <a:solidFill>
              <a:srgbClr val="717171"/>
            </a:solidFill>
            <a:prstDash val="solid"/>
            <a:miter lim="800000"/>
            <a:headEnd len="sm" w="sm" type="none"/>
            <a:tailEnd len="sm" w="sm" type="none"/>
          </a:ln>
        </p:spPr>
      </p:cxnSp>
      <p:pic>
        <p:nvPicPr>
          <p:cNvPr id="94" name="Google Shape;94;p1"/>
          <p:cNvPicPr preferRelativeResize="0"/>
          <p:nvPr/>
        </p:nvPicPr>
        <p:blipFill rotWithShape="1">
          <a:blip r:embed="rId3">
            <a:alphaModFix/>
          </a:blip>
          <a:srcRect b="19360" l="0" r="0" t="16164"/>
          <a:stretch/>
        </p:blipFill>
        <p:spPr>
          <a:xfrm>
            <a:off x="4461496" y="3223350"/>
            <a:ext cx="986840" cy="636272"/>
          </a:xfrm>
          <a:prstGeom prst="rect">
            <a:avLst/>
          </a:prstGeom>
          <a:noFill/>
          <a:ln>
            <a:noFill/>
          </a:ln>
        </p:spPr>
      </p:pic>
      <p:sp>
        <p:nvSpPr>
          <p:cNvPr id="95" name="Google Shape;95;p1"/>
          <p:cNvSpPr txBox="1"/>
          <p:nvPr/>
        </p:nvSpPr>
        <p:spPr>
          <a:xfrm>
            <a:off x="1956237" y="3318493"/>
            <a:ext cx="9144000" cy="498598"/>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3600"/>
              <a:buFont typeface="Century Gothic"/>
              <a:buNone/>
            </a:pPr>
            <a:r>
              <a:rPr b="0" i="0" lang="fr-FR" sz="3600" u="none" cap="none" strike="noStrike">
                <a:solidFill>
                  <a:srgbClr val="181DA0"/>
                </a:solidFill>
                <a:latin typeface="Century Gothic"/>
                <a:ea typeface="Century Gothic"/>
                <a:cs typeface="Century Gothic"/>
                <a:sym typeface="Century Gothic"/>
              </a:rPr>
              <a:t>ONFCM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B0301"/>
              </a:solidFill>
              <a:latin typeface="Quattrocento Sans"/>
              <a:ea typeface="Quattrocento Sans"/>
              <a:cs typeface="Quattrocento Sans"/>
              <a:sym typeface="Quattrocento Sans"/>
            </a:endParaRPr>
          </a:p>
        </p:txBody>
      </p:sp>
      <p:pic>
        <p:nvPicPr>
          <p:cNvPr id="101" name="Google Shape;101;p2"/>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102" name="Google Shape;102;p2"/>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b="0" i="0" lang="fr-FR" sz="1200" u="none" cap="none" strike="noStrike">
                <a:solidFill>
                  <a:srgbClr val="181DA0"/>
                </a:solidFill>
                <a:latin typeface="Century Gothic"/>
                <a:ea typeface="Century Gothic"/>
                <a:cs typeface="Century Gothic"/>
                <a:sym typeface="Century Gothic"/>
              </a:rPr>
              <a:t>ONFCM</a:t>
            </a:r>
            <a:endParaRPr/>
          </a:p>
        </p:txBody>
      </p:sp>
      <p:sp>
        <p:nvSpPr>
          <p:cNvPr id="103" name="Google Shape;103;p2"/>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1100" u="none" cap="none" strike="noStrike">
                <a:solidFill>
                  <a:schemeClr val="lt1"/>
                </a:solidFill>
                <a:latin typeface="Quattrocento Sans"/>
                <a:ea typeface="Quattrocento Sans"/>
                <a:cs typeface="Quattrocento Sans"/>
                <a:sym typeface="Quattrocento Sans"/>
              </a:rPr>
              <a:t>2</a:t>
            </a:r>
            <a:endParaRPr/>
          </a:p>
        </p:txBody>
      </p:sp>
      <p:cxnSp>
        <p:nvCxnSpPr>
          <p:cNvPr id="104" name="Google Shape;104;p2"/>
          <p:cNvCxnSpPr/>
          <p:nvPr/>
        </p:nvCxnSpPr>
        <p:spPr>
          <a:xfrm>
            <a:off x="8105775" y="522898"/>
            <a:ext cx="4086225" cy="0"/>
          </a:xfrm>
          <a:prstGeom prst="straightConnector1">
            <a:avLst/>
          </a:prstGeom>
          <a:noFill/>
          <a:ln cap="flat" cmpd="sng" w="9525">
            <a:solidFill>
              <a:srgbClr val="717171"/>
            </a:solidFill>
            <a:prstDash val="solid"/>
            <a:miter lim="800000"/>
            <a:headEnd len="med" w="med" type="oval"/>
            <a:tailEnd len="sm" w="sm" type="none"/>
          </a:ln>
        </p:spPr>
      </p:cxnSp>
      <p:sp>
        <p:nvSpPr>
          <p:cNvPr id="105" name="Google Shape;105;p2"/>
          <p:cNvSpPr txBox="1"/>
          <p:nvPr/>
        </p:nvSpPr>
        <p:spPr>
          <a:xfrm>
            <a:off x="228600" y="190500"/>
            <a:ext cx="11734800" cy="775597"/>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3F3F3F"/>
              </a:buClr>
              <a:buSzPts val="2800"/>
              <a:buFont typeface="Century Gothic"/>
              <a:buNone/>
            </a:pPr>
            <a:r>
              <a:rPr b="0" i="0" lang="fr-FR" sz="2800" u="none" cap="none" strike="noStrike">
                <a:solidFill>
                  <a:srgbClr val="3F3F3F"/>
                </a:solidFill>
                <a:latin typeface="Century Gothic"/>
                <a:ea typeface="Century Gothic"/>
                <a:cs typeface="Century Gothic"/>
                <a:sym typeface="Century Gothic"/>
              </a:rPr>
              <a:t>Mise en contexte</a:t>
            </a:r>
            <a:br>
              <a:rPr b="0" i="0" lang="fr-FR" sz="2800" u="none" cap="none" strike="noStrike">
                <a:solidFill>
                  <a:srgbClr val="3F3F3F"/>
                </a:solidFill>
                <a:latin typeface="Century Gothic"/>
                <a:ea typeface="Century Gothic"/>
                <a:cs typeface="Century Gothic"/>
                <a:sym typeface="Century Gothic"/>
              </a:rPr>
            </a:br>
            <a:endParaRPr b="0" i="0" sz="2800" u="none" cap="none" strike="noStrike">
              <a:solidFill>
                <a:srgbClr val="3F3F3F"/>
              </a:solidFill>
              <a:latin typeface="Century Gothic"/>
              <a:ea typeface="Century Gothic"/>
              <a:cs typeface="Century Gothic"/>
              <a:sym typeface="Century Gothic"/>
            </a:endParaRPr>
          </a:p>
        </p:txBody>
      </p:sp>
      <p:cxnSp>
        <p:nvCxnSpPr>
          <p:cNvPr id="106" name="Google Shape;106;p2"/>
          <p:cNvCxnSpPr/>
          <p:nvPr/>
        </p:nvCxnSpPr>
        <p:spPr>
          <a:xfrm>
            <a:off x="0" y="522898"/>
            <a:ext cx="4086225" cy="0"/>
          </a:xfrm>
          <a:prstGeom prst="straightConnector1">
            <a:avLst/>
          </a:prstGeom>
          <a:noFill/>
          <a:ln cap="flat" cmpd="sng" w="9525">
            <a:solidFill>
              <a:srgbClr val="717171"/>
            </a:solidFill>
            <a:prstDash val="solid"/>
            <a:miter lim="800000"/>
            <a:headEnd len="sm" w="sm" type="none"/>
            <a:tailEnd len="med" w="med" type="oval"/>
          </a:ln>
        </p:spPr>
      </p:cxnSp>
      <p:sp>
        <p:nvSpPr>
          <p:cNvPr id="107" name="Google Shape;107;p2"/>
          <p:cNvSpPr txBox="1"/>
          <p:nvPr/>
        </p:nvSpPr>
        <p:spPr>
          <a:xfrm>
            <a:off x="1131359" y="910697"/>
            <a:ext cx="3251200" cy="38779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1"/>
              </a:buClr>
              <a:buSzPts val="2800"/>
              <a:buFont typeface="Calibri"/>
              <a:buNone/>
            </a:pPr>
            <a:r>
              <a:rPr b="1" i="0" lang="fr-FR" sz="2800" u="none" cap="none" strike="noStrike">
                <a:solidFill>
                  <a:schemeClr val="dk1"/>
                </a:solidFill>
                <a:latin typeface="Calibri"/>
                <a:ea typeface="Calibri"/>
                <a:cs typeface="Calibri"/>
                <a:sym typeface="Calibri"/>
              </a:rPr>
              <a:t>Source de données :</a:t>
            </a:r>
            <a:endParaRPr/>
          </a:p>
        </p:txBody>
      </p:sp>
      <p:sp>
        <p:nvSpPr>
          <p:cNvPr id="108" name="Google Shape;108;p2"/>
          <p:cNvSpPr txBox="1"/>
          <p:nvPr/>
        </p:nvSpPr>
        <p:spPr>
          <a:xfrm>
            <a:off x="1038226" y="1591366"/>
            <a:ext cx="4754135" cy="317009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Fichier de données sur les informations des billets</a:t>
            </a:r>
            <a:endParaRPr/>
          </a:p>
          <a:p>
            <a:pPr indent="-285750" lvl="1" marL="7429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1 variable : Nature (Vrai/Faux)</a:t>
            </a:r>
            <a:endParaRPr/>
          </a:p>
          <a:p>
            <a:pPr indent="-285750" lvl="1" marL="7429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6 variables : Dimensions</a:t>
            </a:r>
            <a:endParaRPr/>
          </a:p>
          <a:p>
            <a:pPr indent="-285750" lvl="2" marL="12001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Diagonale</a:t>
            </a:r>
            <a:endParaRPr/>
          </a:p>
          <a:p>
            <a:pPr indent="-285750" lvl="2" marL="12001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Hauteur gauche</a:t>
            </a:r>
            <a:endParaRPr/>
          </a:p>
          <a:p>
            <a:pPr indent="-285750" lvl="2" marL="12001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Hauteur droite</a:t>
            </a:r>
            <a:endParaRPr/>
          </a:p>
          <a:p>
            <a:pPr indent="-285750" lvl="2" marL="12001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Marge du bas</a:t>
            </a:r>
            <a:endParaRPr/>
          </a:p>
          <a:p>
            <a:pPr indent="-285750" lvl="2" marL="12001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Marge du haut</a:t>
            </a:r>
            <a:endParaRPr/>
          </a:p>
          <a:p>
            <a:pPr indent="-285750" lvl="2" marL="120015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Longueur</a:t>
            </a:r>
            <a:endParaRPr/>
          </a:p>
        </p:txBody>
      </p:sp>
      <p:sp>
        <p:nvSpPr>
          <p:cNvPr id="109" name="Google Shape;109;p2"/>
          <p:cNvSpPr/>
          <p:nvPr/>
        </p:nvSpPr>
        <p:spPr>
          <a:xfrm>
            <a:off x="1148337" y="4735675"/>
            <a:ext cx="3372745" cy="184665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9600" u="none" cap="none" strike="noStrike">
                <a:solidFill>
                  <a:schemeClr val="dk1"/>
                </a:solidFill>
                <a:latin typeface="Quattrocento Sans"/>
                <a:ea typeface="Quattrocento Sans"/>
                <a:cs typeface="Quattrocento Sans"/>
                <a:sym typeface="Quattrocento Sans"/>
              </a:rPr>
              <a:t>1500 </a:t>
            </a:r>
            <a:r>
              <a:rPr b="1" i="0" lang="fr-FR" sz="2400" u="none" cap="none" strike="noStrike">
                <a:solidFill>
                  <a:schemeClr val="dk1"/>
                </a:solidFill>
                <a:latin typeface="Quattrocento Sans"/>
                <a:ea typeface="Quattrocento Sans"/>
                <a:cs typeface="Quattrocento Sans"/>
                <a:sym typeface="Quattrocento Sans"/>
              </a:rPr>
              <a:t>billets</a:t>
            </a:r>
            <a:endParaRPr/>
          </a:p>
        </p:txBody>
      </p:sp>
      <p:sp>
        <p:nvSpPr>
          <p:cNvPr id="110" name="Google Shape;110;p2"/>
          <p:cNvSpPr txBox="1"/>
          <p:nvPr/>
        </p:nvSpPr>
        <p:spPr>
          <a:xfrm>
            <a:off x="8182973" y="1429857"/>
            <a:ext cx="2412377"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fr-FR" sz="2800" u="none" cap="none" strike="noStrike">
                <a:solidFill>
                  <a:schemeClr val="dk1"/>
                </a:solidFill>
                <a:latin typeface="Calibri"/>
                <a:ea typeface="Calibri"/>
                <a:cs typeface="Calibri"/>
                <a:sym typeface="Calibri"/>
              </a:rPr>
              <a:t>Traitements et visualisations</a:t>
            </a:r>
            <a:endParaRPr b="1" i="0" sz="3600" u="none" cap="none" strike="noStrike">
              <a:solidFill>
                <a:schemeClr val="dk1"/>
              </a:solidFill>
              <a:latin typeface="Calibri"/>
              <a:ea typeface="Calibri"/>
              <a:cs typeface="Calibri"/>
              <a:sym typeface="Calibri"/>
            </a:endParaRPr>
          </a:p>
        </p:txBody>
      </p:sp>
      <p:pic>
        <p:nvPicPr>
          <p:cNvPr descr="Jupyter — Wikipédia" id="111" name="Google Shape;111;p2"/>
          <p:cNvPicPr preferRelativeResize="0"/>
          <p:nvPr/>
        </p:nvPicPr>
        <p:blipFill rotWithShape="1">
          <a:blip r:embed="rId4">
            <a:alphaModFix/>
          </a:blip>
          <a:srcRect b="0" l="0" r="0" t="0"/>
          <a:stretch/>
        </p:blipFill>
        <p:spPr>
          <a:xfrm>
            <a:off x="8327575" y="2383964"/>
            <a:ext cx="1981200" cy="2305050"/>
          </a:xfrm>
          <a:prstGeom prst="rect">
            <a:avLst/>
          </a:prstGeom>
          <a:noFill/>
          <a:ln>
            <a:noFill/>
          </a:ln>
        </p:spPr>
      </p:pic>
      <p:sp>
        <p:nvSpPr>
          <p:cNvPr id="112" name="Google Shape;112;p2"/>
          <p:cNvSpPr/>
          <p:nvPr/>
        </p:nvSpPr>
        <p:spPr>
          <a:xfrm>
            <a:off x="8105775" y="4746779"/>
            <a:ext cx="24247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fr-FR" sz="2000" u="none" cap="none" strike="noStrike">
                <a:solidFill>
                  <a:schemeClr val="dk1"/>
                </a:solidFill>
                <a:latin typeface="Calibri"/>
                <a:ea typeface="Calibri"/>
                <a:cs typeface="Calibri"/>
                <a:sym typeface="Calibri"/>
              </a:rPr>
              <a:t>Jupyter Notebook (Python)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B0301"/>
              </a:solidFill>
              <a:latin typeface="Quattrocento Sans"/>
              <a:ea typeface="Quattrocento Sans"/>
              <a:cs typeface="Quattrocento Sans"/>
              <a:sym typeface="Quattrocento Sans"/>
            </a:endParaRPr>
          </a:p>
        </p:txBody>
      </p:sp>
      <p:pic>
        <p:nvPicPr>
          <p:cNvPr id="118" name="Google Shape;118;p3"/>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119" name="Google Shape;119;p3"/>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b="0" i="0" lang="fr-FR" sz="1200" u="none" cap="none" strike="noStrike">
                <a:solidFill>
                  <a:srgbClr val="181DA0"/>
                </a:solidFill>
                <a:latin typeface="Century Gothic"/>
                <a:ea typeface="Century Gothic"/>
                <a:cs typeface="Century Gothic"/>
                <a:sym typeface="Century Gothic"/>
              </a:rPr>
              <a:t>ONFCM</a:t>
            </a:r>
            <a:endParaRPr/>
          </a:p>
        </p:txBody>
      </p:sp>
      <p:sp>
        <p:nvSpPr>
          <p:cNvPr id="120" name="Google Shape;120;p3"/>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1100" u="none" cap="none" strike="noStrike">
                <a:solidFill>
                  <a:schemeClr val="lt1"/>
                </a:solidFill>
                <a:latin typeface="Quattrocento Sans"/>
                <a:ea typeface="Quattrocento Sans"/>
                <a:cs typeface="Quattrocento Sans"/>
                <a:sym typeface="Quattrocento Sans"/>
              </a:rPr>
              <a:t>3</a:t>
            </a:r>
            <a:endParaRPr/>
          </a:p>
        </p:txBody>
      </p:sp>
      <p:sp>
        <p:nvSpPr>
          <p:cNvPr id="121" name="Google Shape;121;p3"/>
          <p:cNvSpPr/>
          <p:nvPr/>
        </p:nvSpPr>
        <p:spPr>
          <a:xfrm>
            <a:off x="721590" y="670828"/>
            <a:ext cx="3609573"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2800" u="none" cap="none" strike="noStrike">
                <a:solidFill>
                  <a:schemeClr val="dk1"/>
                </a:solidFill>
                <a:latin typeface="Calibri"/>
                <a:ea typeface="Calibri"/>
                <a:cs typeface="Calibri"/>
                <a:sym typeface="Calibri"/>
              </a:rPr>
              <a:t>Etat des lieux des données</a:t>
            </a:r>
            <a:endParaRPr/>
          </a:p>
        </p:txBody>
      </p:sp>
      <p:pic>
        <p:nvPicPr>
          <p:cNvPr id="122" name="Google Shape;122;p3"/>
          <p:cNvPicPr preferRelativeResize="0"/>
          <p:nvPr/>
        </p:nvPicPr>
        <p:blipFill rotWithShape="1">
          <a:blip r:embed="rId4">
            <a:alphaModFix/>
          </a:blip>
          <a:srcRect b="0" l="0" r="0" t="0"/>
          <a:stretch/>
        </p:blipFill>
        <p:spPr>
          <a:xfrm>
            <a:off x="1010665" y="5328446"/>
            <a:ext cx="827153" cy="827153"/>
          </a:xfrm>
          <a:prstGeom prst="rect">
            <a:avLst/>
          </a:prstGeom>
          <a:noFill/>
          <a:ln>
            <a:noFill/>
          </a:ln>
        </p:spPr>
      </p:pic>
      <p:pic>
        <p:nvPicPr>
          <p:cNvPr id="123" name="Google Shape;123;p3"/>
          <p:cNvPicPr preferRelativeResize="0"/>
          <p:nvPr/>
        </p:nvPicPr>
        <p:blipFill rotWithShape="1">
          <a:blip r:embed="rId5">
            <a:alphaModFix/>
          </a:blip>
          <a:srcRect b="0" l="0" r="0" t="0"/>
          <a:stretch/>
        </p:blipFill>
        <p:spPr>
          <a:xfrm>
            <a:off x="1010666" y="4076638"/>
            <a:ext cx="827153" cy="827153"/>
          </a:xfrm>
          <a:prstGeom prst="rect">
            <a:avLst/>
          </a:prstGeom>
          <a:noFill/>
          <a:ln>
            <a:noFill/>
          </a:ln>
        </p:spPr>
      </p:pic>
      <p:sp>
        <p:nvSpPr>
          <p:cNvPr id="124" name="Google Shape;124;p3"/>
          <p:cNvSpPr/>
          <p:nvPr/>
        </p:nvSpPr>
        <p:spPr>
          <a:xfrm>
            <a:off x="1980710" y="4336325"/>
            <a:ext cx="2064045"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fr-FR" sz="2000" u="none" cap="none" strike="noStrike">
                <a:solidFill>
                  <a:schemeClr val="dk1"/>
                </a:solidFill>
                <a:latin typeface="Calibri"/>
                <a:ea typeface="Calibri"/>
                <a:cs typeface="Calibri"/>
                <a:sym typeface="Calibri"/>
              </a:rPr>
              <a:t>Valeurs doublons</a:t>
            </a:r>
            <a:endParaRPr/>
          </a:p>
        </p:txBody>
      </p:sp>
      <p:sp>
        <p:nvSpPr>
          <p:cNvPr id="125" name="Google Shape;125;p3"/>
          <p:cNvSpPr/>
          <p:nvPr/>
        </p:nvSpPr>
        <p:spPr>
          <a:xfrm>
            <a:off x="1980710" y="5454309"/>
            <a:ext cx="2064045"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fr-FR" sz="2000" u="none" cap="none" strike="noStrike">
                <a:solidFill>
                  <a:schemeClr val="dk1"/>
                </a:solidFill>
                <a:latin typeface="Calibri"/>
                <a:ea typeface="Calibri"/>
                <a:cs typeface="Calibri"/>
                <a:sym typeface="Calibri"/>
              </a:rPr>
              <a:t>Valeurs manquantes / NA</a:t>
            </a:r>
            <a:endParaRPr/>
          </a:p>
        </p:txBody>
      </p:sp>
      <p:pic>
        <p:nvPicPr>
          <p:cNvPr id="126" name="Google Shape;126;p3"/>
          <p:cNvPicPr preferRelativeResize="0"/>
          <p:nvPr/>
        </p:nvPicPr>
        <p:blipFill rotWithShape="1">
          <a:blip r:embed="rId6">
            <a:alphaModFix/>
          </a:blip>
          <a:srcRect b="0" l="0" r="0" t="0"/>
          <a:stretch/>
        </p:blipFill>
        <p:spPr>
          <a:xfrm>
            <a:off x="1059177" y="2954230"/>
            <a:ext cx="827153" cy="827153"/>
          </a:xfrm>
          <a:prstGeom prst="rect">
            <a:avLst/>
          </a:prstGeom>
          <a:noFill/>
          <a:ln>
            <a:noFill/>
          </a:ln>
        </p:spPr>
      </p:pic>
      <p:sp>
        <p:nvSpPr>
          <p:cNvPr id="127" name="Google Shape;127;p3"/>
          <p:cNvSpPr/>
          <p:nvPr/>
        </p:nvSpPr>
        <p:spPr>
          <a:xfrm>
            <a:off x="1980710" y="3174644"/>
            <a:ext cx="2064045"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fr-FR" sz="2000" u="none" cap="none" strike="noStrike">
                <a:solidFill>
                  <a:schemeClr val="dk1"/>
                </a:solidFill>
                <a:latin typeface="Calibri"/>
                <a:ea typeface="Calibri"/>
                <a:cs typeface="Calibri"/>
                <a:sym typeface="Calibri"/>
              </a:rPr>
              <a:t>Valeurs absurdes</a:t>
            </a:r>
            <a:endParaRPr/>
          </a:p>
        </p:txBody>
      </p:sp>
      <p:pic>
        <p:nvPicPr>
          <p:cNvPr id="128" name="Google Shape;128;p3"/>
          <p:cNvPicPr preferRelativeResize="0"/>
          <p:nvPr/>
        </p:nvPicPr>
        <p:blipFill rotWithShape="1">
          <a:blip r:embed="rId7">
            <a:alphaModFix/>
          </a:blip>
          <a:srcRect b="0" l="0" r="0" t="0"/>
          <a:stretch/>
        </p:blipFill>
        <p:spPr>
          <a:xfrm>
            <a:off x="1010665" y="1821255"/>
            <a:ext cx="827154" cy="827154"/>
          </a:xfrm>
          <a:prstGeom prst="rect">
            <a:avLst/>
          </a:prstGeom>
          <a:noFill/>
          <a:ln>
            <a:noFill/>
          </a:ln>
        </p:spPr>
      </p:pic>
      <p:sp>
        <p:nvSpPr>
          <p:cNvPr id="129" name="Google Shape;129;p3"/>
          <p:cNvSpPr/>
          <p:nvPr/>
        </p:nvSpPr>
        <p:spPr>
          <a:xfrm>
            <a:off x="1932198" y="2047415"/>
            <a:ext cx="2064045"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0" i="0" lang="fr-FR" sz="2000" u="none" cap="none" strike="noStrike">
                <a:solidFill>
                  <a:schemeClr val="dk1"/>
                </a:solidFill>
                <a:latin typeface="Calibri"/>
                <a:ea typeface="Calibri"/>
                <a:cs typeface="Calibri"/>
                <a:sym typeface="Calibri"/>
              </a:rPr>
              <a:t>Type de donnée</a:t>
            </a:r>
            <a:endParaRPr/>
          </a:p>
        </p:txBody>
      </p:sp>
      <p:cxnSp>
        <p:nvCxnSpPr>
          <p:cNvPr id="130" name="Google Shape;130;p3"/>
          <p:cNvCxnSpPr/>
          <p:nvPr/>
        </p:nvCxnSpPr>
        <p:spPr>
          <a:xfrm>
            <a:off x="8105775" y="522898"/>
            <a:ext cx="4086225" cy="0"/>
          </a:xfrm>
          <a:prstGeom prst="straightConnector1">
            <a:avLst/>
          </a:prstGeom>
          <a:noFill/>
          <a:ln cap="flat" cmpd="sng" w="9525">
            <a:solidFill>
              <a:srgbClr val="717171"/>
            </a:solidFill>
            <a:prstDash val="solid"/>
            <a:miter lim="800000"/>
            <a:headEnd len="med" w="med" type="oval"/>
            <a:tailEnd len="sm" w="sm" type="none"/>
          </a:ln>
        </p:spPr>
      </p:cxnSp>
      <p:sp>
        <p:nvSpPr>
          <p:cNvPr id="131" name="Google Shape;131;p3"/>
          <p:cNvSpPr txBox="1"/>
          <p:nvPr/>
        </p:nvSpPr>
        <p:spPr>
          <a:xfrm>
            <a:off x="228600" y="190500"/>
            <a:ext cx="11734800" cy="775597"/>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3F3F3F"/>
              </a:buClr>
              <a:buSzPts val="2800"/>
              <a:buFont typeface="Century Gothic"/>
              <a:buNone/>
            </a:pPr>
            <a:r>
              <a:rPr b="0" i="0" lang="fr-FR" sz="2800" u="none" cap="none" strike="noStrike">
                <a:solidFill>
                  <a:srgbClr val="3F3F3F"/>
                </a:solidFill>
                <a:latin typeface="Century Gothic"/>
                <a:ea typeface="Century Gothic"/>
                <a:cs typeface="Century Gothic"/>
                <a:sym typeface="Century Gothic"/>
              </a:rPr>
              <a:t>Traitements des </a:t>
            </a:r>
            <a:endParaRPr/>
          </a:p>
          <a:p>
            <a:pPr indent="0" lvl="0" marL="0" marR="0" rtl="0" algn="ctr">
              <a:lnSpc>
                <a:spcPct val="90000"/>
              </a:lnSpc>
              <a:spcBef>
                <a:spcPts val="0"/>
              </a:spcBef>
              <a:spcAft>
                <a:spcPts val="0"/>
              </a:spcAft>
              <a:buClr>
                <a:srgbClr val="3F3F3F"/>
              </a:buClr>
              <a:buSzPts val="2800"/>
              <a:buFont typeface="Century Gothic"/>
              <a:buNone/>
            </a:pPr>
            <a:r>
              <a:rPr b="0" i="0" lang="fr-FR" sz="2800" u="none" cap="none" strike="noStrike">
                <a:solidFill>
                  <a:srgbClr val="3F3F3F"/>
                </a:solidFill>
                <a:latin typeface="Century Gothic"/>
                <a:ea typeface="Century Gothic"/>
                <a:cs typeface="Century Gothic"/>
                <a:sym typeface="Century Gothic"/>
              </a:rPr>
              <a:t>données</a:t>
            </a:r>
            <a:endParaRPr/>
          </a:p>
        </p:txBody>
      </p:sp>
      <p:cxnSp>
        <p:nvCxnSpPr>
          <p:cNvPr id="132" name="Google Shape;132;p3"/>
          <p:cNvCxnSpPr/>
          <p:nvPr/>
        </p:nvCxnSpPr>
        <p:spPr>
          <a:xfrm>
            <a:off x="0" y="522898"/>
            <a:ext cx="4086225" cy="0"/>
          </a:xfrm>
          <a:prstGeom prst="straightConnector1">
            <a:avLst/>
          </a:prstGeom>
          <a:noFill/>
          <a:ln cap="flat" cmpd="sng" w="9525">
            <a:solidFill>
              <a:srgbClr val="717171"/>
            </a:solidFill>
            <a:prstDash val="solid"/>
            <a:miter lim="800000"/>
            <a:headEnd len="sm" w="sm" type="none"/>
            <a:tailEnd len="med" w="med" type="oval"/>
          </a:ln>
        </p:spPr>
      </p:cxnSp>
      <p:sp>
        <p:nvSpPr>
          <p:cNvPr id="133" name="Google Shape;133;p3"/>
          <p:cNvSpPr/>
          <p:nvPr/>
        </p:nvSpPr>
        <p:spPr>
          <a:xfrm>
            <a:off x="6481258" y="799324"/>
            <a:ext cx="5135666"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2800" u="none" cap="none" strike="noStrike">
                <a:solidFill>
                  <a:schemeClr val="dk1"/>
                </a:solidFill>
                <a:latin typeface="Calibri"/>
                <a:ea typeface="Calibri"/>
                <a:cs typeface="Calibri"/>
                <a:sym typeface="Calibri"/>
              </a:rPr>
              <a:t>Type de donnée</a:t>
            </a:r>
            <a:endParaRPr/>
          </a:p>
        </p:txBody>
      </p:sp>
      <p:sp>
        <p:nvSpPr>
          <p:cNvPr id="134" name="Google Shape;134;p3"/>
          <p:cNvSpPr/>
          <p:nvPr/>
        </p:nvSpPr>
        <p:spPr>
          <a:xfrm>
            <a:off x="7112701" y="1567408"/>
            <a:ext cx="3721482" cy="4001095"/>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Is_genuine : Booléen </a:t>
            </a:r>
            <a:endParaRPr/>
          </a:p>
          <a:p>
            <a:pPr indent="-215900" lvl="0" marL="3429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Diagonal : Float</a:t>
            </a:r>
            <a:endParaRPr b="0" i="0" sz="2000" u="none" cap="none" strike="noStrike">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Height_left : Float</a:t>
            </a:r>
            <a:endParaRPr b="0" i="0" sz="2000" u="none" cap="none" strike="noStrike">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Height_right : Float</a:t>
            </a:r>
            <a:endParaRPr b="0" i="0" sz="2000" u="none" cap="none" strike="noStrike">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Margin_low : Float</a:t>
            </a:r>
            <a:endParaRPr b="0" i="0" sz="2000" u="none" cap="none" strike="noStrike">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Margin_up : Float</a:t>
            </a:r>
            <a:endParaRPr b="0" i="0" sz="2000" u="none" cap="none" strike="noStrike">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Length  : Float</a:t>
            </a:r>
            <a:endParaRPr b="0" i="0" sz="2000" u="none" cap="none" strike="noStrike">
              <a:solidFill>
                <a:schemeClr val="dk1"/>
              </a:solidFill>
              <a:latin typeface="Calibri"/>
              <a:ea typeface="Calibri"/>
              <a:cs typeface="Calibri"/>
              <a:sym typeface="Calibri"/>
            </a:endParaRPr>
          </a:p>
        </p:txBody>
      </p:sp>
      <p:pic>
        <p:nvPicPr>
          <p:cNvPr id="135" name="Google Shape;135;p3"/>
          <p:cNvPicPr preferRelativeResize="0"/>
          <p:nvPr/>
        </p:nvPicPr>
        <p:blipFill rotWithShape="1">
          <a:blip r:embed="rId8">
            <a:alphaModFix/>
          </a:blip>
          <a:srcRect b="0" l="0" r="0" t="0"/>
          <a:stretch/>
        </p:blipFill>
        <p:spPr>
          <a:xfrm>
            <a:off x="10646197" y="1470488"/>
            <a:ext cx="528319" cy="528319"/>
          </a:xfrm>
          <a:prstGeom prst="rect">
            <a:avLst/>
          </a:prstGeom>
          <a:noFill/>
          <a:ln>
            <a:noFill/>
          </a:ln>
        </p:spPr>
      </p:pic>
      <p:pic>
        <p:nvPicPr>
          <p:cNvPr id="136" name="Google Shape;136;p3"/>
          <p:cNvPicPr preferRelativeResize="0"/>
          <p:nvPr/>
        </p:nvPicPr>
        <p:blipFill rotWithShape="1">
          <a:blip r:embed="rId8">
            <a:alphaModFix/>
          </a:blip>
          <a:srcRect b="0" l="0" r="0" t="0"/>
          <a:stretch/>
        </p:blipFill>
        <p:spPr>
          <a:xfrm>
            <a:off x="10646197" y="2116014"/>
            <a:ext cx="528319" cy="528319"/>
          </a:xfrm>
          <a:prstGeom prst="rect">
            <a:avLst/>
          </a:prstGeom>
          <a:noFill/>
          <a:ln>
            <a:noFill/>
          </a:ln>
        </p:spPr>
      </p:pic>
      <p:pic>
        <p:nvPicPr>
          <p:cNvPr id="137" name="Google Shape;137;p3"/>
          <p:cNvPicPr preferRelativeResize="0"/>
          <p:nvPr/>
        </p:nvPicPr>
        <p:blipFill rotWithShape="1">
          <a:blip r:embed="rId8">
            <a:alphaModFix/>
          </a:blip>
          <a:srcRect b="0" l="0" r="0" t="0"/>
          <a:stretch/>
        </p:blipFill>
        <p:spPr>
          <a:xfrm>
            <a:off x="10646196" y="2674290"/>
            <a:ext cx="528319" cy="528319"/>
          </a:xfrm>
          <a:prstGeom prst="rect">
            <a:avLst/>
          </a:prstGeom>
          <a:noFill/>
          <a:ln>
            <a:noFill/>
          </a:ln>
        </p:spPr>
      </p:pic>
      <p:pic>
        <p:nvPicPr>
          <p:cNvPr id="138" name="Google Shape;138;p3"/>
          <p:cNvPicPr preferRelativeResize="0"/>
          <p:nvPr/>
        </p:nvPicPr>
        <p:blipFill rotWithShape="1">
          <a:blip r:embed="rId8">
            <a:alphaModFix/>
          </a:blip>
          <a:srcRect b="0" l="0" r="0" t="0"/>
          <a:stretch/>
        </p:blipFill>
        <p:spPr>
          <a:xfrm>
            <a:off x="10646196" y="3271944"/>
            <a:ext cx="528319" cy="528319"/>
          </a:xfrm>
          <a:prstGeom prst="rect">
            <a:avLst/>
          </a:prstGeom>
          <a:noFill/>
          <a:ln>
            <a:noFill/>
          </a:ln>
        </p:spPr>
      </p:pic>
      <p:pic>
        <p:nvPicPr>
          <p:cNvPr id="139" name="Google Shape;139;p3"/>
          <p:cNvPicPr preferRelativeResize="0"/>
          <p:nvPr/>
        </p:nvPicPr>
        <p:blipFill rotWithShape="1">
          <a:blip r:embed="rId8">
            <a:alphaModFix/>
          </a:blip>
          <a:srcRect b="0" l="0" r="0" t="0"/>
          <a:stretch/>
        </p:blipFill>
        <p:spPr>
          <a:xfrm>
            <a:off x="10646195" y="3892460"/>
            <a:ext cx="528319" cy="528319"/>
          </a:xfrm>
          <a:prstGeom prst="rect">
            <a:avLst/>
          </a:prstGeom>
          <a:noFill/>
          <a:ln>
            <a:noFill/>
          </a:ln>
        </p:spPr>
      </p:pic>
      <p:pic>
        <p:nvPicPr>
          <p:cNvPr id="140" name="Google Shape;140;p3"/>
          <p:cNvPicPr preferRelativeResize="0"/>
          <p:nvPr/>
        </p:nvPicPr>
        <p:blipFill rotWithShape="1">
          <a:blip r:embed="rId8">
            <a:alphaModFix/>
          </a:blip>
          <a:srcRect b="0" l="0" r="0" t="0"/>
          <a:stretch/>
        </p:blipFill>
        <p:spPr>
          <a:xfrm>
            <a:off x="10646197" y="4557978"/>
            <a:ext cx="528319" cy="528319"/>
          </a:xfrm>
          <a:prstGeom prst="rect">
            <a:avLst/>
          </a:prstGeom>
          <a:noFill/>
          <a:ln>
            <a:noFill/>
          </a:ln>
        </p:spPr>
      </p:pic>
      <p:pic>
        <p:nvPicPr>
          <p:cNvPr id="141" name="Google Shape;141;p3"/>
          <p:cNvPicPr preferRelativeResize="0"/>
          <p:nvPr/>
        </p:nvPicPr>
        <p:blipFill rotWithShape="1">
          <a:blip r:embed="rId8">
            <a:alphaModFix/>
          </a:blip>
          <a:srcRect b="0" l="0" r="0" t="0"/>
          <a:stretch/>
        </p:blipFill>
        <p:spPr>
          <a:xfrm>
            <a:off x="10657080" y="5177667"/>
            <a:ext cx="528319" cy="52831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4"/>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B0301"/>
              </a:solidFill>
              <a:latin typeface="Quattrocento Sans"/>
              <a:ea typeface="Quattrocento Sans"/>
              <a:cs typeface="Quattrocento Sans"/>
              <a:sym typeface="Quattrocento Sans"/>
            </a:endParaRPr>
          </a:p>
        </p:txBody>
      </p:sp>
      <p:pic>
        <p:nvPicPr>
          <p:cNvPr id="147" name="Google Shape;147;p4"/>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148" name="Google Shape;148;p4"/>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b="0" i="0" lang="fr-FR" sz="1200" u="none" cap="none" strike="noStrike">
                <a:solidFill>
                  <a:srgbClr val="181DA0"/>
                </a:solidFill>
                <a:latin typeface="Century Gothic"/>
                <a:ea typeface="Century Gothic"/>
                <a:cs typeface="Century Gothic"/>
                <a:sym typeface="Century Gothic"/>
              </a:rPr>
              <a:t>ONFCM</a:t>
            </a:r>
            <a:endParaRPr/>
          </a:p>
        </p:txBody>
      </p:sp>
      <p:sp>
        <p:nvSpPr>
          <p:cNvPr id="149" name="Google Shape;149;p4"/>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1100" u="none" cap="none" strike="noStrike">
                <a:solidFill>
                  <a:schemeClr val="lt1"/>
                </a:solidFill>
                <a:latin typeface="Quattrocento Sans"/>
                <a:ea typeface="Quattrocento Sans"/>
                <a:cs typeface="Quattrocento Sans"/>
                <a:sym typeface="Quattrocento Sans"/>
              </a:rPr>
              <a:t>4</a:t>
            </a:r>
            <a:endParaRPr/>
          </a:p>
        </p:txBody>
      </p:sp>
      <p:sp>
        <p:nvSpPr>
          <p:cNvPr id="150" name="Google Shape;150;p4"/>
          <p:cNvSpPr/>
          <p:nvPr/>
        </p:nvSpPr>
        <p:spPr>
          <a:xfrm>
            <a:off x="-85048" y="191948"/>
            <a:ext cx="5135666"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fr-FR" sz="2800" u="none" cap="none" strike="noStrike">
                <a:solidFill>
                  <a:schemeClr val="dk1"/>
                </a:solidFill>
                <a:latin typeface="Calibri"/>
                <a:ea typeface="Calibri"/>
                <a:cs typeface="Calibri"/>
                <a:sym typeface="Calibri"/>
              </a:rPr>
              <a:t>Valeurs absurdes</a:t>
            </a:r>
            <a:endParaRPr/>
          </a:p>
        </p:txBody>
      </p:sp>
      <p:sp>
        <p:nvSpPr>
          <p:cNvPr id="151" name="Google Shape;151;p4"/>
          <p:cNvSpPr/>
          <p:nvPr/>
        </p:nvSpPr>
        <p:spPr>
          <a:xfrm>
            <a:off x="274129" y="807964"/>
            <a:ext cx="4417312" cy="954107"/>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2000"/>
              <a:buFont typeface="Arial"/>
              <a:buChar char="•"/>
            </a:pPr>
            <a:r>
              <a:rPr b="0" i="0" lang="fr-FR" sz="2000" u="none" cap="none" strike="noStrike">
                <a:solidFill>
                  <a:schemeClr val="dk1"/>
                </a:solidFill>
                <a:latin typeface="Calibri"/>
                <a:ea typeface="Calibri"/>
                <a:cs typeface="Calibri"/>
                <a:sym typeface="Calibri"/>
              </a:rPr>
              <a:t>Tester les valeurs négatives </a:t>
            </a:r>
            <a:endParaRPr/>
          </a:p>
          <a:p>
            <a:pPr indent="0" lvl="0" marL="0" marR="0" rtl="0" algn="l">
              <a:spcBef>
                <a:spcPts val="0"/>
              </a:spcBef>
              <a:spcAft>
                <a:spcPts val="0"/>
              </a:spcAft>
              <a:buNone/>
            </a:pPr>
            <a:r>
              <a:rPr b="0" i="0" lang="fr-FR" sz="2400" u="none" cap="none" strike="noStrike">
                <a:solidFill>
                  <a:schemeClr val="dk1"/>
                </a:solidFill>
                <a:latin typeface="Calibri"/>
                <a:ea typeface="Calibri"/>
                <a:cs typeface="Calibri"/>
                <a:sym typeface="Calibri"/>
              </a:rPr>
              <a:t>	– </a:t>
            </a:r>
            <a:r>
              <a:rPr b="0" i="0" lang="fr-FR" sz="1800" u="none" cap="none" strike="noStrike">
                <a:solidFill>
                  <a:schemeClr val="dk1"/>
                </a:solidFill>
                <a:latin typeface="Calibri"/>
                <a:ea typeface="Calibri"/>
                <a:cs typeface="Calibri"/>
                <a:sym typeface="Calibri"/>
              </a:rPr>
              <a:t>Toutes les variables de </a:t>
            </a:r>
            <a:endParaRPr/>
          </a:p>
          <a:p>
            <a:pPr indent="0" lvl="0" marL="0" marR="0" rtl="0" algn="l">
              <a:spcBef>
                <a:spcPts val="0"/>
              </a:spcBef>
              <a:spcAft>
                <a:spcPts val="0"/>
              </a:spcAft>
              <a:buNone/>
            </a:pPr>
            <a:r>
              <a:rPr lang="fr-FR" sz="1800">
                <a:solidFill>
                  <a:schemeClr val="dk1"/>
                </a:solidFill>
                <a:latin typeface="Calibri"/>
                <a:ea typeface="Calibri"/>
                <a:cs typeface="Calibri"/>
                <a:sym typeface="Calibri"/>
              </a:rPr>
              <a:t>	    dimensions </a:t>
            </a:r>
            <a:endParaRPr sz="2400">
              <a:solidFill>
                <a:schemeClr val="dk1"/>
              </a:solidFill>
              <a:latin typeface="Calibri"/>
              <a:ea typeface="Calibri"/>
              <a:cs typeface="Calibri"/>
              <a:sym typeface="Calibri"/>
            </a:endParaRPr>
          </a:p>
        </p:txBody>
      </p:sp>
      <p:pic>
        <p:nvPicPr>
          <p:cNvPr id="152" name="Google Shape;152;p4"/>
          <p:cNvPicPr preferRelativeResize="0"/>
          <p:nvPr/>
        </p:nvPicPr>
        <p:blipFill rotWithShape="1">
          <a:blip r:embed="rId4">
            <a:alphaModFix/>
          </a:blip>
          <a:srcRect b="0" l="0" r="0" t="0"/>
          <a:stretch/>
        </p:blipFill>
        <p:spPr>
          <a:xfrm>
            <a:off x="4046591" y="1057307"/>
            <a:ext cx="528319" cy="528319"/>
          </a:xfrm>
          <a:prstGeom prst="rect">
            <a:avLst/>
          </a:prstGeom>
          <a:noFill/>
          <a:ln>
            <a:noFill/>
          </a:ln>
        </p:spPr>
      </p:pic>
      <p:sp>
        <p:nvSpPr>
          <p:cNvPr id="153" name="Google Shape;153;p4"/>
          <p:cNvSpPr/>
          <p:nvPr/>
        </p:nvSpPr>
        <p:spPr>
          <a:xfrm>
            <a:off x="-366184" y="2656778"/>
            <a:ext cx="5135666"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Doublons</a:t>
            </a:r>
            <a:endParaRPr/>
          </a:p>
        </p:txBody>
      </p:sp>
      <p:sp>
        <p:nvSpPr>
          <p:cNvPr id="154" name="Google Shape;154;p4"/>
          <p:cNvSpPr/>
          <p:nvPr/>
        </p:nvSpPr>
        <p:spPr>
          <a:xfrm>
            <a:off x="1121171" y="3483876"/>
            <a:ext cx="2160955" cy="2215991"/>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9600">
                <a:solidFill>
                  <a:schemeClr val="dk1"/>
                </a:solidFill>
                <a:latin typeface="Quattrocento Sans"/>
                <a:ea typeface="Quattrocento Sans"/>
                <a:cs typeface="Quattrocento Sans"/>
                <a:sym typeface="Quattrocento Sans"/>
              </a:rPr>
              <a:t>0</a:t>
            </a:r>
            <a:endParaRPr/>
          </a:p>
          <a:p>
            <a:pPr indent="0" lvl="0" marL="0" marR="0" rtl="0" algn="ctr">
              <a:spcBef>
                <a:spcPts val="0"/>
              </a:spcBef>
              <a:spcAft>
                <a:spcPts val="0"/>
              </a:spcAft>
              <a:buNone/>
            </a:pPr>
            <a:r>
              <a:rPr b="1" lang="fr-FR" sz="2400">
                <a:solidFill>
                  <a:schemeClr val="dk1"/>
                </a:solidFill>
                <a:latin typeface="Quattrocento Sans"/>
                <a:ea typeface="Quattrocento Sans"/>
                <a:cs typeface="Quattrocento Sans"/>
                <a:sym typeface="Quattrocento Sans"/>
              </a:rPr>
              <a:t>Doublons trouvés</a:t>
            </a:r>
            <a:endParaRPr/>
          </a:p>
        </p:txBody>
      </p:sp>
      <p:sp>
        <p:nvSpPr>
          <p:cNvPr id="155" name="Google Shape;155;p4"/>
          <p:cNvSpPr/>
          <p:nvPr/>
        </p:nvSpPr>
        <p:spPr>
          <a:xfrm>
            <a:off x="6349524" y="209505"/>
            <a:ext cx="5135666"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Valeurs manquantes / NA</a:t>
            </a:r>
            <a:endParaRPr/>
          </a:p>
        </p:txBody>
      </p:sp>
      <p:sp>
        <p:nvSpPr>
          <p:cNvPr id="156" name="Google Shape;156;p4"/>
          <p:cNvSpPr/>
          <p:nvPr/>
        </p:nvSpPr>
        <p:spPr>
          <a:xfrm>
            <a:off x="7179049" y="870275"/>
            <a:ext cx="3476615" cy="184665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9600">
                <a:solidFill>
                  <a:schemeClr val="dk1"/>
                </a:solidFill>
                <a:latin typeface="Quattrocento Sans"/>
                <a:ea typeface="Quattrocento Sans"/>
                <a:cs typeface="Quattrocento Sans"/>
                <a:sym typeface="Quattrocento Sans"/>
              </a:rPr>
              <a:t>2,46 %</a:t>
            </a:r>
            <a:endParaRPr/>
          </a:p>
          <a:p>
            <a:pPr indent="0" lvl="0" marL="0" marR="0" rtl="0" algn="ctr">
              <a:spcBef>
                <a:spcPts val="0"/>
              </a:spcBef>
              <a:spcAft>
                <a:spcPts val="0"/>
              </a:spcAft>
              <a:buNone/>
            </a:pPr>
            <a:r>
              <a:rPr b="1" lang="fr-FR" sz="2400">
                <a:solidFill>
                  <a:schemeClr val="dk1"/>
                </a:solidFill>
                <a:latin typeface="Quattrocento Sans"/>
                <a:ea typeface="Quattrocento Sans"/>
                <a:cs typeface="Quattrocento Sans"/>
                <a:sym typeface="Quattrocento Sans"/>
              </a:rPr>
              <a:t>De valeurs manquantes </a:t>
            </a:r>
            <a:endParaRPr/>
          </a:p>
        </p:txBody>
      </p:sp>
      <p:cxnSp>
        <p:nvCxnSpPr>
          <p:cNvPr id="157" name="Google Shape;157;p4"/>
          <p:cNvCxnSpPr/>
          <p:nvPr/>
        </p:nvCxnSpPr>
        <p:spPr>
          <a:xfrm flipH="1">
            <a:off x="8917356" y="2770366"/>
            <a:ext cx="7481" cy="1059198"/>
          </a:xfrm>
          <a:prstGeom prst="straightConnector1">
            <a:avLst/>
          </a:prstGeom>
          <a:noFill/>
          <a:ln cap="flat" cmpd="sng" w="57150">
            <a:solidFill>
              <a:srgbClr val="181DA0"/>
            </a:solidFill>
            <a:prstDash val="solid"/>
            <a:miter lim="800000"/>
            <a:headEnd len="sm" w="sm" type="none"/>
            <a:tailEnd len="med" w="med" type="triangle"/>
          </a:ln>
        </p:spPr>
      </p:cxnSp>
      <p:sp>
        <p:nvSpPr>
          <p:cNvPr id="158" name="Google Shape;158;p4"/>
          <p:cNvSpPr/>
          <p:nvPr/>
        </p:nvSpPr>
        <p:spPr>
          <a:xfrm>
            <a:off x="7028003" y="3882996"/>
            <a:ext cx="3763746"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Variable « margin_low »</a:t>
            </a:r>
            <a:endParaRPr/>
          </a:p>
        </p:txBody>
      </p:sp>
      <p:cxnSp>
        <p:nvCxnSpPr>
          <p:cNvPr id="159" name="Google Shape;159;p4"/>
          <p:cNvCxnSpPr/>
          <p:nvPr/>
        </p:nvCxnSpPr>
        <p:spPr>
          <a:xfrm>
            <a:off x="8917356" y="4270917"/>
            <a:ext cx="0" cy="1173147"/>
          </a:xfrm>
          <a:prstGeom prst="straightConnector1">
            <a:avLst/>
          </a:prstGeom>
          <a:noFill/>
          <a:ln cap="flat" cmpd="sng" w="38100">
            <a:solidFill>
              <a:srgbClr val="181DA0"/>
            </a:solidFill>
            <a:prstDash val="solid"/>
            <a:miter lim="800000"/>
            <a:headEnd len="sm" w="sm" type="none"/>
            <a:tailEnd len="med" w="med" type="triangle"/>
          </a:ln>
        </p:spPr>
      </p:cxnSp>
      <p:cxnSp>
        <p:nvCxnSpPr>
          <p:cNvPr id="160" name="Google Shape;160;p4"/>
          <p:cNvCxnSpPr/>
          <p:nvPr/>
        </p:nvCxnSpPr>
        <p:spPr>
          <a:xfrm>
            <a:off x="7095067" y="4785553"/>
            <a:ext cx="3696682" cy="0"/>
          </a:xfrm>
          <a:prstGeom prst="straightConnector1">
            <a:avLst/>
          </a:prstGeom>
          <a:noFill/>
          <a:ln cap="flat" cmpd="sng" w="38100">
            <a:solidFill>
              <a:srgbClr val="181DA0"/>
            </a:solidFill>
            <a:prstDash val="solid"/>
            <a:miter lim="800000"/>
            <a:headEnd len="sm" w="sm" type="none"/>
            <a:tailEnd len="sm" w="sm" type="none"/>
          </a:ln>
        </p:spPr>
      </p:cxnSp>
      <p:cxnSp>
        <p:nvCxnSpPr>
          <p:cNvPr id="161" name="Google Shape;161;p4"/>
          <p:cNvCxnSpPr/>
          <p:nvPr/>
        </p:nvCxnSpPr>
        <p:spPr>
          <a:xfrm>
            <a:off x="10774150" y="4785553"/>
            <a:ext cx="0" cy="658511"/>
          </a:xfrm>
          <a:prstGeom prst="straightConnector1">
            <a:avLst/>
          </a:prstGeom>
          <a:noFill/>
          <a:ln cap="flat" cmpd="sng" w="38100">
            <a:solidFill>
              <a:srgbClr val="181DA0"/>
            </a:solidFill>
            <a:prstDash val="solid"/>
            <a:miter lim="800000"/>
            <a:headEnd len="sm" w="sm" type="none"/>
            <a:tailEnd len="med" w="med" type="triangle"/>
          </a:ln>
        </p:spPr>
      </p:cxnSp>
      <p:cxnSp>
        <p:nvCxnSpPr>
          <p:cNvPr id="162" name="Google Shape;162;p4"/>
          <p:cNvCxnSpPr/>
          <p:nvPr/>
        </p:nvCxnSpPr>
        <p:spPr>
          <a:xfrm>
            <a:off x="7115969" y="4785553"/>
            <a:ext cx="0" cy="658511"/>
          </a:xfrm>
          <a:prstGeom prst="straightConnector1">
            <a:avLst/>
          </a:prstGeom>
          <a:noFill/>
          <a:ln cap="flat" cmpd="sng" w="38100">
            <a:solidFill>
              <a:srgbClr val="181DA0"/>
            </a:solidFill>
            <a:prstDash val="solid"/>
            <a:miter lim="800000"/>
            <a:headEnd len="sm" w="sm" type="none"/>
            <a:tailEnd len="med" w="med" type="triangle"/>
          </a:ln>
        </p:spPr>
      </p:cxnSp>
      <p:sp>
        <p:nvSpPr>
          <p:cNvPr id="163" name="Google Shape;163;p4"/>
          <p:cNvSpPr/>
          <p:nvPr/>
        </p:nvSpPr>
        <p:spPr>
          <a:xfrm>
            <a:off x="6398832" y="5495282"/>
            <a:ext cx="1458307" cy="49244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600">
                <a:solidFill>
                  <a:srgbClr val="FF0000"/>
                </a:solidFill>
                <a:latin typeface="Calibri"/>
                <a:ea typeface="Calibri"/>
                <a:cs typeface="Calibri"/>
                <a:sym typeface="Calibri"/>
              </a:rPr>
              <a:t>Compléter manuellement</a:t>
            </a:r>
            <a:endParaRPr/>
          </a:p>
        </p:txBody>
      </p:sp>
      <p:sp>
        <p:nvSpPr>
          <p:cNvPr id="164" name="Google Shape;164;p4"/>
          <p:cNvSpPr/>
          <p:nvPr/>
        </p:nvSpPr>
        <p:spPr>
          <a:xfrm>
            <a:off x="7998072" y="5492034"/>
            <a:ext cx="1853530" cy="49244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600">
                <a:solidFill>
                  <a:srgbClr val="FF0000"/>
                </a:solidFill>
                <a:latin typeface="Calibri"/>
                <a:ea typeface="Calibri"/>
                <a:cs typeface="Calibri"/>
                <a:sym typeface="Calibri"/>
              </a:rPr>
              <a:t>Croisement de données</a:t>
            </a:r>
            <a:endParaRPr/>
          </a:p>
        </p:txBody>
      </p:sp>
      <p:sp>
        <p:nvSpPr>
          <p:cNvPr id="165" name="Google Shape;165;p4"/>
          <p:cNvSpPr/>
          <p:nvPr/>
        </p:nvSpPr>
        <p:spPr>
          <a:xfrm>
            <a:off x="9812881" y="5444064"/>
            <a:ext cx="1853530"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600">
                <a:solidFill>
                  <a:srgbClr val="00B050"/>
                </a:solidFill>
                <a:latin typeface="Calibri"/>
                <a:ea typeface="Calibri"/>
                <a:cs typeface="Calibri"/>
                <a:sym typeface="Calibri"/>
              </a:rPr>
              <a:t>Imputation de données</a:t>
            </a:r>
            <a:endParaRPr/>
          </a:p>
          <a:p>
            <a:pPr indent="-285750" lvl="0" marL="285750" marR="0" rtl="0" algn="ctr">
              <a:spcBef>
                <a:spcPts val="0"/>
              </a:spcBef>
              <a:spcAft>
                <a:spcPts val="0"/>
              </a:spcAft>
              <a:buClr>
                <a:schemeClr val="accent4"/>
              </a:buClr>
              <a:buSzPts val="1200"/>
              <a:buFont typeface="Arial"/>
              <a:buChar char="•"/>
            </a:pPr>
            <a:r>
              <a:rPr b="1" lang="fr-FR" sz="1200">
                <a:solidFill>
                  <a:schemeClr val="accent4"/>
                </a:solidFill>
                <a:latin typeface="Calibri"/>
                <a:ea typeface="Calibri"/>
                <a:cs typeface="Calibri"/>
                <a:sym typeface="Calibri"/>
              </a:rPr>
              <a:t>Moyenne OU médiane</a:t>
            </a:r>
            <a:endParaRPr/>
          </a:p>
          <a:p>
            <a:pPr indent="-285750" lvl="0" marL="285750" marR="0" rtl="0" algn="ctr">
              <a:spcBef>
                <a:spcPts val="0"/>
              </a:spcBef>
              <a:spcAft>
                <a:spcPts val="0"/>
              </a:spcAft>
              <a:buClr>
                <a:srgbClr val="00B050"/>
              </a:buClr>
              <a:buSzPts val="1200"/>
              <a:buFont typeface="Arial"/>
              <a:buChar char="•"/>
            </a:pPr>
            <a:r>
              <a:rPr b="1" lang="fr-FR" sz="1200">
                <a:solidFill>
                  <a:srgbClr val="00B050"/>
                </a:solidFill>
                <a:latin typeface="Calibri"/>
                <a:ea typeface="Calibri"/>
                <a:cs typeface="Calibri"/>
                <a:sym typeface="Calibri"/>
              </a:rPr>
              <a:t>Modèle statistique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5"/>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171" name="Google Shape;171;p5"/>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172" name="Google Shape;172;p5"/>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173" name="Google Shape;173;p5"/>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5</a:t>
            </a:r>
            <a:endParaRPr/>
          </a:p>
        </p:txBody>
      </p:sp>
      <p:sp>
        <p:nvSpPr>
          <p:cNvPr id="174" name="Google Shape;174;p5"/>
          <p:cNvSpPr txBox="1"/>
          <p:nvPr/>
        </p:nvSpPr>
        <p:spPr>
          <a:xfrm>
            <a:off x="143933" y="709024"/>
            <a:ext cx="5816600" cy="193899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Régression linéaire (simple ou multiple)</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Modéliser la relation entre une variable indépendante et une ou plusieurs variables dépendantes en trouvant une équation linéaire qui minimise l’erreur totale entre les valeurs observées et les valeurs prédites par le modèle</a:t>
            </a:r>
            <a:endParaRPr sz="1600">
              <a:solidFill>
                <a:schemeClr val="dk1"/>
              </a:solidFill>
              <a:latin typeface="Quattrocento Sans"/>
              <a:ea typeface="Quattrocento Sans"/>
              <a:cs typeface="Quattrocento Sans"/>
              <a:sym typeface="Quattrocento Sans"/>
            </a:endParaRPr>
          </a:p>
        </p:txBody>
      </p:sp>
      <p:cxnSp>
        <p:nvCxnSpPr>
          <p:cNvPr id="175" name="Google Shape;175;p5"/>
          <p:cNvCxnSpPr/>
          <p:nvPr/>
        </p:nvCxnSpPr>
        <p:spPr>
          <a:xfrm>
            <a:off x="2548467" y="2981883"/>
            <a:ext cx="990600" cy="0"/>
          </a:xfrm>
          <a:prstGeom prst="straightConnector1">
            <a:avLst/>
          </a:prstGeom>
          <a:noFill/>
          <a:ln cap="flat" cmpd="sng" w="38100">
            <a:solidFill>
              <a:srgbClr val="181DA0"/>
            </a:solidFill>
            <a:prstDash val="solid"/>
            <a:miter lim="800000"/>
            <a:headEnd len="sm" w="sm" type="none"/>
            <a:tailEnd len="med" w="med" type="triangle"/>
          </a:ln>
        </p:spPr>
      </p:cxnSp>
      <p:sp>
        <p:nvSpPr>
          <p:cNvPr id="176" name="Google Shape;176;p5"/>
          <p:cNvSpPr/>
          <p:nvPr/>
        </p:nvSpPr>
        <p:spPr>
          <a:xfrm>
            <a:off x="-532731" y="2802596"/>
            <a:ext cx="3763746"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Variable à prédire</a:t>
            </a:r>
            <a:endParaRPr/>
          </a:p>
        </p:txBody>
      </p:sp>
      <p:sp>
        <p:nvSpPr>
          <p:cNvPr id="177" name="Google Shape;177;p5"/>
          <p:cNvSpPr/>
          <p:nvPr/>
        </p:nvSpPr>
        <p:spPr>
          <a:xfrm>
            <a:off x="3445934" y="2674106"/>
            <a:ext cx="2150846"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Quantitative</a:t>
            </a:r>
            <a:endParaRPr/>
          </a:p>
          <a:p>
            <a:pPr indent="0" lvl="0" marL="0" marR="0" rtl="0" algn="ctr">
              <a:spcBef>
                <a:spcPts val="0"/>
              </a:spcBef>
              <a:spcAft>
                <a:spcPts val="0"/>
              </a:spcAft>
              <a:buNone/>
            </a:pPr>
            <a:r>
              <a:rPr b="1" lang="fr-FR" sz="2000">
                <a:solidFill>
                  <a:schemeClr val="dk1"/>
                </a:solidFill>
                <a:latin typeface="Calibri"/>
                <a:ea typeface="Calibri"/>
                <a:cs typeface="Calibri"/>
                <a:sym typeface="Calibri"/>
              </a:rPr>
              <a:t>(margin_low)</a:t>
            </a:r>
            <a:endParaRPr/>
          </a:p>
        </p:txBody>
      </p:sp>
      <p:cxnSp>
        <p:nvCxnSpPr>
          <p:cNvPr id="178" name="Google Shape;178;p5"/>
          <p:cNvCxnSpPr/>
          <p:nvPr/>
        </p:nvCxnSpPr>
        <p:spPr>
          <a:xfrm>
            <a:off x="2604482" y="3864321"/>
            <a:ext cx="990600" cy="0"/>
          </a:xfrm>
          <a:prstGeom prst="straightConnector1">
            <a:avLst/>
          </a:prstGeom>
          <a:noFill/>
          <a:ln cap="flat" cmpd="sng" w="38100">
            <a:solidFill>
              <a:srgbClr val="181DA0"/>
            </a:solidFill>
            <a:prstDash val="solid"/>
            <a:miter lim="800000"/>
            <a:headEnd len="sm" w="sm" type="none"/>
            <a:tailEnd len="med" w="med" type="triangle"/>
          </a:ln>
        </p:spPr>
      </p:cxnSp>
      <p:sp>
        <p:nvSpPr>
          <p:cNvPr id="179" name="Google Shape;179;p5"/>
          <p:cNvSpPr/>
          <p:nvPr/>
        </p:nvSpPr>
        <p:spPr>
          <a:xfrm>
            <a:off x="143933" y="3529126"/>
            <a:ext cx="2403551"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Variable(s) explicative(s)</a:t>
            </a:r>
            <a:endParaRPr/>
          </a:p>
        </p:txBody>
      </p:sp>
      <p:sp>
        <p:nvSpPr>
          <p:cNvPr id="180" name="Google Shape;180;p5"/>
          <p:cNvSpPr/>
          <p:nvPr/>
        </p:nvSpPr>
        <p:spPr>
          <a:xfrm>
            <a:off x="3501949" y="3556544"/>
            <a:ext cx="2150846"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Quantitative</a:t>
            </a:r>
            <a:endParaRPr/>
          </a:p>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cxnSp>
        <p:nvCxnSpPr>
          <p:cNvPr id="181" name="Google Shape;181;p5"/>
          <p:cNvCxnSpPr/>
          <p:nvPr/>
        </p:nvCxnSpPr>
        <p:spPr>
          <a:xfrm flipH="1" rot="10800000">
            <a:off x="2087703" y="4303316"/>
            <a:ext cx="1809509" cy="8772"/>
          </a:xfrm>
          <a:prstGeom prst="straightConnector1">
            <a:avLst/>
          </a:prstGeom>
          <a:noFill/>
          <a:ln cap="flat" cmpd="sng" w="28575">
            <a:solidFill>
              <a:srgbClr val="717171"/>
            </a:solidFill>
            <a:prstDash val="solid"/>
            <a:miter lim="800000"/>
            <a:headEnd len="sm" w="sm" type="none"/>
            <a:tailEnd len="sm" w="sm" type="none"/>
          </a:ln>
        </p:spPr>
      </p:cxnSp>
      <p:sp>
        <p:nvSpPr>
          <p:cNvPr id="182" name="Google Shape;182;p5"/>
          <p:cNvSpPr txBox="1"/>
          <p:nvPr/>
        </p:nvSpPr>
        <p:spPr>
          <a:xfrm>
            <a:off x="37592" y="4536228"/>
            <a:ext cx="5816600"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Machine learning</a:t>
            </a:r>
            <a:endParaRPr b="1" sz="2800">
              <a:solidFill>
                <a:schemeClr val="dk1"/>
              </a:solidFill>
              <a:latin typeface="Calibri"/>
              <a:ea typeface="Calibri"/>
              <a:cs typeface="Calibri"/>
              <a:sym typeface="Calibri"/>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Approche statistique visant à créer des modèles capables de prédire avec précision</a:t>
            </a:r>
            <a:endParaRPr sz="1600">
              <a:solidFill>
                <a:schemeClr val="dk1"/>
              </a:solidFill>
              <a:latin typeface="Quattrocento Sans"/>
              <a:ea typeface="Quattrocento Sans"/>
              <a:cs typeface="Quattrocento Sans"/>
              <a:sym typeface="Quattrocento Sans"/>
            </a:endParaRPr>
          </a:p>
        </p:txBody>
      </p:sp>
      <p:sp>
        <p:nvSpPr>
          <p:cNvPr id="183" name="Google Shape;183;p5"/>
          <p:cNvSpPr/>
          <p:nvPr/>
        </p:nvSpPr>
        <p:spPr>
          <a:xfrm>
            <a:off x="7664256" y="709024"/>
            <a:ext cx="3609573"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Déroulement commun</a:t>
            </a:r>
            <a:endParaRPr/>
          </a:p>
        </p:txBody>
      </p:sp>
      <p:sp>
        <p:nvSpPr>
          <p:cNvPr id="184" name="Google Shape;184;p5"/>
          <p:cNvSpPr/>
          <p:nvPr/>
        </p:nvSpPr>
        <p:spPr>
          <a:xfrm>
            <a:off x="7862243" y="1533574"/>
            <a:ext cx="3721482" cy="3385542"/>
          </a:xfrm>
          <a:prstGeom prst="rect">
            <a:avLst/>
          </a:prstGeom>
          <a:noFill/>
          <a:ln>
            <a:noFill/>
          </a:ln>
        </p:spPr>
        <p:txBody>
          <a:bodyPr anchorCtr="0" anchor="ctr" bIns="0" lIns="0" spcFirstLastPara="1" rIns="0" wrap="square" tIns="0">
            <a:spAutoFit/>
          </a:bodyPr>
          <a:lstStyle/>
          <a:p>
            <a:pPr indent="-457200" lvl="0" marL="457200" marR="0" rtl="0" algn="l">
              <a:spcBef>
                <a:spcPts val="0"/>
              </a:spcBef>
              <a:spcAft>
                <a:spcPts val="0"/>
              </a:spcAft>
              <a:buClr>
                <a:schemeClr val="dk1"/>
              </a:buClr>
              <a:buSzPts val="2000"/>
              <a:buFont typeface="Century Gothic"/>
              <a:buAutoNum type="arabicPeriod"/>
            </a:pPr>
            <a:r>
              <a:rPr lang="fr-FR" sz="2000">
                <a:solidFill>
                  <a:schemeClr val="dk1"/>
                </a:solidFill>
                <a:latin typeface="Calibri"/>
                <a:ea typeface="Calibri"/>
                <a:cs typeface="Calibri"/>
                <a:sym typeface="Calibri"/>
              </a:rPr>
              <a:t>Préparation des données</a:t>
            </a:r>
            <a:endParaRPr/>
          </a:p>
          <a:p>
            <a:pPr indent="-330200" lvl="0" marL="457200" marR="0" rtl="0" algn="l">
              <a:spcBef>
                <a:spcPts val="0"/>
              </a:spcBef>
              <a:spcAft>
                <a:spcPts val="0"/>
              </a:spcAft>
              <a:buClr>
                <a:schemeClr val="dk1"/>
              </a:buClr>
              <a:buSzPts val="2000"/>
              <a:buFont typeface="Century Gothic"/>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entury Gothic"/>
              <a:buAutoNum type="arabicPeriod"/>
            </a:pPr>
            <a:r>
              <a:rPr lang="fr-FR" sz="2000">
                <a:solidFill>
                  <a:schemeClr val="dk1"/>
                </a:solidFill>
                <a:latin typeface="Calibri"/>
                <a:ea typeface="Calibri"/>
                <a:cs typeface="Calibri"/>
                <a:sym typeface="Calibri"/>
              </a:rPr>
              <a:t>Division du jeu de données</a:t>
            </a:r>
            <a:endParaRPr/>
          </a:p>
          <a:p>
            <a:pPr indent="-330200" lvl="0" marL="457200" marR="0" rtl="0" algn="l">
              <a:spcBef>
                <a:spcPts val="0"/>
              </a:spcBef>
              <a:spcAft>
                <a:spcPts val="0"/>
              </a:spcAft>
              <a:buClr>
                <a:schemeClr val="dk1"/>
              </a:buClr>
              <a:buSzPts val="2000"/>
              <a:buFont typeface="Century Gothic"/>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entury Gothic"/>
              <a:buAutoNum type="arabicPeriod"/>
            </a:pPr>
            <a:r>
              <a:rPr lang="fr-FR" sz="2000">
                <a:solidFill>
                  <a:schemeClr val="dk1"/>
                </a:solidFill>
                <a:latin typeface="Calibri"/>
                <a:ea typeface="Calibri"/>
                <a:cs typeface="Calibri"/>
                <a:sym typeface="Calibri"/>
              </a:rPr>
              <a:t>Choix de la donnée (brute OU normalisée)</a:t>
            </a:r>
            <a:endParaRPr/>
          </a:p>
          <a:p>
            <a:pPr indent="-330200" lvl="0" marL="457200" marR="0" rtl="0" algn="l">
              <a:spcBef>
                <a:spcPts val="0"/>
              </a:spcBef>
              <a:spcAft>
                <a:spcPts val="0"/>
              </a:spcAft>
              <a:buClr>
                <a:schemeClr val="dk1"/>
              </a:buClr>
              <a:buSzPts val="2000"/>
              <a:buFont typeface="Century Gothic"/>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entury Gothic"/>
              <a:buAutoNum type="arabicPeriod"/>
            </a:pPr>
            <a:r>
              <a:rPr lang="fr-FR" sz="2000">
                <a:solidFill>
                  <a:schemeClr val="dk1"/>
                </a:solidFill>
                <a:latin typeface="Calibri"/>
                <a:ea typeface="Calibri"/>
                <a:cs typeface="Calibri"/>
                <a:sym typeface="Calibri"/>
              </a:rPr>
              <a:t>Entraînement du modèle</a:t>
            </a:r>
            <a:endParaRPr/>
          </a:p>
          <a:p>
            <a:pPr indent="-330200" lvl="0" marL="457200" marR="0" rtl="0" algn="l">
              <a:spcBef>
                <a:spcPts val="0"/>
              </a:spcBef>
              <a:spcAft>
                <a:spcPts val="0"/>
              </a:spcAft>
              <a:buClr>
                <a:schemeClr val="dk1"/>
              </a:buClr>
              <a:buSzPts val="2000"/>
              <a:buFont typeface="Century Gothic"/>
              <a:buNone/>
            </a:pPr>
            <a:r>
              <a:t/>
            </a:r>
            <a:endParaRPr sz="2000">
              <a:solidFill>
                <a:schemeClr val="dk1"/>
              </a:solidFill>
              <a:latin typeface="Calibri"/>
              <a:ea typeface="Calibri"/>
              <a:cs typeface="Calibri"/>
              <a:sym typeface="Calibri"/>
            </a:endParaRPr>
          </a:p>
          <a:p>
            <a:pPr indent="-457200" lvl="0" marL="457200" marR="0" rtl="0" algn="l">
              <a:spcBef>
                <a:spcPts val="0"/>
              </a:spcBef>
              <a:spcAft>
                <a:spcPts val="0"/>
              </a:spcAft>
              <a:buClr>
                <a:schemeClr val="dk1"/>
              </a:buClr>
              <a:buSzPts val="2000"/>
              <a:buFont typeface="Century Gothic"/>
              <a:buAutoNum type="arabicPeriod"/>
            </a:pPr>
            <a:r>
              <a:rPr lang="fr-FR" sz="2000">
                <a:solidFill>
                  <a:schemeClr val="dk1"/>
                </a:solidFill>
                <a:latin typeface="Calibri"/>
                <a:ea typeface="Calibri"/>
                <a:cs typeface="Calibri"/>
                <a:sym typeface="Calibri"/>
              </a:rPr>
              <a:t>Prédiction et évaluation des performances</a:t>
            </a:r>
            <a:endParaRPr sz="20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6"/>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190" name="Google Shape;190;p6"/>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191" name="Google Shape;191;p6"/>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192" name="Google Shape;192;p6"/>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6</a:t>
            </a:r>
            <a:endParaRPr/>
          </a:p>
        </p:txBody>
      </p:sp>
      <p:sp>
        <p:nvSpPr>
          <p:cNvPr id="193" name="Google Shape;193;p6"/>
          <p:cNvSpPr/>
          <p:nvPr/>
        </p:nvSpPr>
        <p:spPr>
          <a:xfrm>
            <a:off x="347132" y="1526034"/>
            <a:ext cx="3233598"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Variables explicatives</a:t>
            </a:r>
            <a:endParaRPr/>
          </a:p>
        </p:txBody>
      </p:sp>
      <p:sp>
        <p:nvSpPr>
          <p:cNvPr id="194" name="Google Shape;194;p6"/>
          <p:cNvSpPr/>
          <p:nvPr/>
        </p:nvSpPr>
        <p:spPr>
          <a:xfrm>
            <a:off x="347132" y="569300"/>
            <a:ext cx="3233598"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Matrice de corrélation</a:t>
            </a:r>
            <a:endParaRPr/>
          </a:p>
        </p:txBody>
      </p:sp>
      <p:cxnSp>
        <p:nvCxnSpPr>
          <p:cNvPr id="195" name="Google Shape;195;p6"/>
          <p:cNvCxnSpPr>
            <a:endCxn id="193" idx="0"/>
          </p:cNvCxnSpPr>
          <p:nvPr/>
        </p:nvCxnSpPr>
        <p:spPr>
          <a:xfrm>
            <a:off x="1963931" y="996534"/>
            <a:ext cx="0" cy="529500"/>
          </a:xfrm>
          <a:prstGeom prst="straightConnector1">
            <a:avLst/>
          </a:prstGeom>
          <a:noFill/>
          <a:ln cap="flat" cmpd="sng" w="38100">
            <a:solidFill>
              <a:srgbClr val="181DA0"/>
            </a:solidFill>
            <a:prstDash val="solid"/>
            <a:miter lim="800000"/>
            <a:headEnd len="sm" w="sm" type="none"/>
            <a:tailEnd len="med" w="med" type="triangle"/>
          </a:ln>
        </p:spPr>
      </p:cxnSp>
      <p:cxnSp>
        <p:nvCxnSpPr>
          <p:cNvPr id="196" name="Google Shape;196;p6"/>
          <p:cNvCxnSpPr/>
          <p:nvPr/>
        </p:nvCxnSpPr>
        <p:spPr>
          <a:xfrm>
            <a:off x="926764" y="2245553"/>
            <a:ext cx="2074334" cy="0"/>
          </a:xfrm>
          <a:prstGeom prst="straightConnector1">
            <a:avLst/>
          </a:prstGeom>
          <a:noFill/>
          <a:ln cap="flat" cmpd="sng" w="38100">
            <a:solidFill>
              <a:srgbClr val="181DA0"/>
            </a:solidFill>
            <a:prstDash val="solid"/>
            <a:miter lim="800000"/>
            <a:headEnd len="sm" w="sm" type="none"/>
            <a:tailEnd len="sm" w="sm" type="none"/>
          </a:ln>
        </p:spPr>
      </p:cxnSp>
      <p:cxnSp>
        <p:nvCxnSpPr>
          <p:cNvPr id="197" name="Google Shape;197;p6"/>
          <p:cNvCxnSpPr/>
          <p:nvPr/>
        </p:nvCxnSpPr>
        <p:spPr>
          <a:xfrm>
            <a:off x="2985223" y="2236028"/>
            <a:ext cx="0" cy="454255"/>
          </a:xfrm>
          <a:prstGeom prst="straightConnector1">
            <a:avLst/>
          </a:prstGeom>
          <a:noFill/>
          <a:ln cap="flat" cmpd="sng" w="38100">
            <a:solidFill>
              <a:srgbClr val="181DA0"/>
            </a:solidFill>
            <a:prstDash val="solid"/>
            <a:miter lim="800000"/>
            <a:headEnd len="sm" w="sm" type="none"/>
            <a:tailEnd len="med" w="med" type="triangle"/>
          </a:ln>
        </p:spPr>
      </p:cxnSp>
      <p:cxnSp>
        <p:nvCxnSpPr>
          <p:cNvPr id="198" name="Google Shape;198;p6"/>
          <p:cNvCxnSpPr>
            <a:stCxn id="193" idx="2"/>
          </p:cNvCxnSpPr>
          <p:nvPr/>
        </p:nvCxnSpPr>
        <p:spPr>
          <a:xfrm>
            <a:off x="1963931" y="1833811"/>
            <a:ext cx="0" cy="411600"/>
          </a:xfrm>
          <a:prstGeom prst="straightConnector1">
            <a:avLst/>
          </a:prstGeom>
          <a:noFill/>
          <a:ln cap="flat" cmpd="sng" w="38100">
            <a:solidFill>
              <a:srgbClr val="181DA0"/>
            </a:solidFill>
            <a:prstDash val="solid"/>
            <a:miter lim="800000"/>
            <a:headEnd len="sm" w="sm" type="none"/>
            <a:tailEnd len="sm" w="sm" type="none"/>
          </a:ln>
        </p:spPr>
      </p:cxnSp>
      <p:cxnSp>
        <p:nvCxnSpPr>
          <p:cNvPr id="199" name="Google Shape;199;p6"/>
          <p:cNvCxnSpPr/>
          <p:nvPr/>
        </p:nvCxnSpPr>
        <p:spPr>
          <a:xfrm>
            <a:off x="946873" y="2226503"/>
            <a:ext cx="0" cy="454255"/>
          </a:xfrm>
          <a:prstGeom prst="straightConnector1">
            <a:avLst/>
          </a:prstGeom>
          <a:noFill/>
          <a:ln cap="flat" cmpd="sng" w="38100">
            <a:solidFill>
              <a:srgbClr val="181DA0"/>
            </a:solidFill>
            <a:prstDash val="solid"/>
            <a:miter lim="800000"/>
            <a:headEnd len="sm" w="sm" type="none"/>
            <a:tailEnd len="med" w="med" type="triangle"/>
          </a:ln>
        </p:spPr>
      </p:cxnSp>
      <p:sp>
        <p:nvSpPr>
          <p:cNvPr id="200" name="Google Shape;200;p6"/>
          <p:cNvSpPr/>
          <p:nvPr/>
        </p:nvSpPr>
        <p:spPr>
          <a:xfrm>
            <a:off x="118533" y="2750400"/>
            <a:ext cx="1735278" cy="49244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margin_up</a:t>
            </a:r>
            <a:endParaRPr b="1" sz="1600">
              <a:solidFill>
                <a:schemeClr val="dk1"/>
              </a:solidFill>
              <a:latin typeface="Calibri"/>
              <a:ea typeface="Calibri"/>
              <a:cs typeface="Calibri"/>
              <a:sym typeface="Calibri"/>
            </a:endParaRPr>
          </a:p>
          <a:p>
            <a:pPr indent="0" lvl="0" marL="0" marR="0" rtl="0" algn="ctr">
              <a:spcBef>
                <a:spcPts val="0"/>
              </a:spcBef>
              <a:spcAft>
                <a:spcPts val="0"/>
              </a:spcAft>
              <a:buNone/>
            </a:pPr>
            <a:r>
              <a:rPr b="1" lang="fr-FR" sz="1600">
                <a:solidFill>
                  <a:schemeClr val="dk1"/>
                </a:solidFill>
                <a:latin typeface="Calibri"/>
                <a:ea typeface="Calibri"/>
                <a:cs typeface="Calibri"/>
                <a:sym typeface="Calibri"/>
              </a:rPr>
              <a:t>(44 %)</a:t>
            </a:r>
            <a:endParaRPr/>
          </a:p>
        </p:txBody>
      </p:sp>
      <p:sp>
        <p:nvSpPr>
          <p:cNvPr id="201" name="Google Shape;201;p6"/>
          <p:cNvSpPr/>
          <p:nvPr/>
        </p:nvSpPr>
        <p:spPr>
          <a:xfrm>
            <a:off x="2117584" y="2750400"/>
            <a:ext cx="1735278" cy="49244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height_right</a:t>
            </a:r>
            <a:endParaRPr b="1" sz="1600">
              <a:solidFill>
                <a:schemeClr val="dk1"/>
              </a:solidFill>
              <a:latin typeface="Calibri"/>
              <a:ea typeface="Calibri"/>
              <a:cs typeface="Calibri"/>
              <a:sym typeface="Calibri"/>
            </a:endParaRPr>
          </a:p>
          <a:p>
            <a:pPr indent="0" lvl="0" marL="0" marR="0" rtl="0" algn="ctr">
              <a:spcBef>
                <a:spcPts val="0"/>
              </a:spcBef>
              <a:spcAft>
                <a:spcPts val="0"/>
              </a:spcAft>
              <a:buNone/>
            </a:pPr>
            <a:r>
              <a:rPr b="1" lang="fr-FR" sz="1600">
                <a:solidFill>
                  <a:schemeClr val="dk1"/>
                </a:solidFill>
                <a:latin typeface="Calibri"/>
                <a:ea typeface="Calibri"/>
                <a:cs typeface="Calibri"/>
                <a:sym typeface="Calibri"/>
              </a:rPr>
              <a:t>(40 %)</a:t>
            </a:r>
            <a:endParaRPr/>
          </a:p>
        </p:txBody>
      </p:sp>
      <p:pic>
        <p:nvPicPr>
          <p:cNvPr id="202" name="Google Shape;202;p6"/>
          <p:cNvPicPr preferRelativeResize="0"/>
          <p:nvPr/>
        </p:nvPicPr>
        <p:blipFill rotWithShape="1">
          <a:blip r:embed="rId4">
            <a:alphaModFix/>
          </a:blip>
          <a:srcRect b="0" l="0" r="66528" t="5769"/>
          <a:stretch/>
        </p:blipFill>
        <p:spPr>
          <a:xfrm>
            <a:off x="347132" y="3597347"/>
            <a:ext cx="3086321" cy="2872457"/>
          </a:xfrm>
          <a:prstGeom prst="rect">
            <a:avLst/>
          </a:prstGeom>
          <a:noFill/>
          <a:ln>
            <a:noFill/>
          </a:ln>
        </p:spPr>
      </p:pic>
      <p:sp>
        <p:nvSpPr>
          <p:cNvPr id="203" name="Google Shape;203;p6"/>
          <p:cNvSpPr/>
          <p:nvPr/>
        </p:nvSpPr>
        <p:spPr>
          <a:xfrm>
            <a:off x="1938530" y="5073831"/>
            <a:ext cx="313603" cy="370236"/>
          </a:xfrm>
          <a:prstGeom prst="rect">
            <a:avLst/>
          </a:prstGeom>
          <a:noFill/>
          <a:ln cap="flat" cmpd="sng" w="285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4" name="Google Shape;204;p6"/>
          <p:cNvSpPr/>
          <p:nvPr/>
        </p:nvSpPr>
        <p:spPr>
          <a:xfrm>
            <a:off x="1938529" y="4341225"/>
            <a:ext cx="313603" cy="370236"/>
          </a:xfrm>
          <a:prstGeom prst="rect">
            <a:avLst/>
          </a:prstGeom>
          <a:noFill/>
          <a:ln cap="flat" cmpd="sng" w="28575">
            <a:solidFill>
              <a:srgbClr val="FFFF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05" name="Google Shape;205;p6"/>
          <p:cNvSpPr/>
          <p:nvPr/>
        </p:nvSpPr>
        <p:spPr>
          <a:xfrm>
            <a:off x="5862850" y="340541"/>
            <a:ext cx="3609573"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Déroulement commun</a:t>
            </a:r>
            <a:endParaRPr/>
          </a:p>
        </p:txBody>
      </p:sp>
      <p:sp>
        <p:nvSpPr>
          <p:cNvPr id="206" name="Google Shape;206;p6"/>
          <p:cNvSpPr/>
          <p:nvPr/>
        </p:nvSpPr>
        <p:spPr>
          <a:xfrm>
            <a:off x="3982723" y="1297258"/>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1. Préparation des données</a:t>
            </a:r>
            <a:endParaRPr/>
          </a:p>
        </p:txBody>
      </p:sp>
      <p:sp>
        <p:nvSpPr>
          <p:cNvPr id="207" name="Google Shape;207;p6"/>
          <p:cNvSpPr/>
          <p:nvPr/>
        </p:nvSpPr>
        <p:spPr>
          <a:xfrm>
            <a:off x="4056995" y="2740087"/>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Division du jeu de données</a:t>
            </a:r>
            <a:endParaRPr/>
          </a:p>
        </p:txBody>
      </p:sp>
      <p:sp>
        <p:nvSpPr>
          <p:cNvPr id="208" name="Google Shape;208;p6"/>
          <p:cNvSpPr/>
          <p:nvPr/>
        </p:nvSpPr>
        <p:spPr>
          <a:xfrm>
            <a:off x="3646585" y="412616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Choix de la donnée</a:t>
            </a:r>
            <a:endParaRPr/>
          </a:p>
        </p:txBody>
      </p:sp>
      <p:cxnSp>
        <p:nvCxnSpPr>
          <p:cNvPr id="209" name="Google Shape;209;p6"/>
          <p:cNvCxnSpPr/>
          <p:nvPr/>
        </p:nvCxnSpPr>
        <p:spPr>
          <a:xfrm>
            <a:off x="4405990" y="4433942"/>
            <a:ext cx="0" cy="425981"/>
          </a:xfrm>
          <a:prstGeom prst="straightConnector1">
            <a:avLst/>
          </a:prstGeom>
          <a:noFill/>
          <a:ln cap="flat" cmpd="sng" w="38100">
            <a:solidFill>
              <a:srgbClr val="181DA0"/>
            </a:solidFill>
            <a:prstDash val="solid"/>
            <a:miter lim="800000"/>
            <a:headEnd len="sm" w="sm" type="none"/>
            <a:tailEnd len="sm" w="sm" type="none"/>
          </a:ln>
        </p:spPr>
      </p:cxnSp>
      <p:cxnSp>
        <p:nvCxnSpPr>
          <p:cNvPr id="210" name="Google Shape;210;p6"/>
          <p:cNvCxnSpPr/>
          <p:nvPr/>
        </p:nvCxnSpPr>
        <p:spPr>
          <a:xfrm>
            <a:off x="4391702" y="4841666"/>
            <a:ext cx="601469" cy="0"/>
          </a:xfrm>
          <a:prstGeom prst="straightConnector1">
            <a:avLst/>
          </a:prstGeom>
          <a:noFill/>
          <a:ln cap="flat" cmpd="sng" w="38100">
            <a:solidFill>
              <a:srgbClr val="181DA0"/>
            </a:solidFill>
            <a:prstDash val="solid"/>
            <a:miter lim="800000"/>
            <a:headEnd len="sm" w="sm" type="none"/>
            <a:tailEnd len="med" w="med" type="triangle"/>
          </a:ln>
        </p:spPr>
      </p:cxnSp>
      <p:sp>
        <p:nvSpPr>
          <p:cNvPr id="211" name="Google Shape;211;p6"/>
          <p:cNvSpPr/>
          <p:nvPr/>
        </p:nvSpPr>
        <p:spPr>
          <a:xfrm>
            <a:off x="4173375" y="4700428"/>
            <a:ext cx="3233599" cy="2769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 brute</a:t>
            </a:r>
            <a:endParaRPr/>
          </a:p>
        </p:txBody>
      </p:sp>
      <p:sp>
        <p:nvSpPr>
          <p:cNvPr id="212" name="Google Shape;212;p6"/>
          <p:cNvSpPr/>
          <p:nvPr/>
        </p:nvSpPr>
        <p:spPr>
          <a:xfrm>
            <a:off x="3902883" y="1700598"/>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X</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margin_up ET height_right</a:t>
            </a:r>
            <a:endParaRPr sz="1800">
              <a:solidFill>
                <a:schemeClr val="dk1"/>
              </a:solidFill>
              <a:latin typeface="Calibri"/>
              <a:ea typeface="Calibri"/>
              <a:cs typeface="Calibri"/>
              <a:sym typeface="Calibri"/>
            </a:endParaRPr>
          </a:p>
        </p:txBody>
      </p:sp>
      <p:sp>
        <p:nvSpPr>
          <p:cNvPr id="213" name="Google Shape;213;p6"/>
          <p:cNvSpPr/>
          <p:nvPr/>
        </p:nvSpPr>
        <p:spPr>
          <a:xfrm>
            <a:off x="5602545" y="1700598"/>
            <a:ext cx="2065092" cy="58477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Y</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margin_low</a:t>
            </a:r>
            <a:endParaRPr sz="1800">
              <a:solidFill>
                <a:schemeClr val="dk1"/>
              </a:solidFill>
              <a:latin typeface="Calibri"/>
              <a:ea typeface="Calibri"/>
              <a:cs typeface="Calibri"/>
              <a:sym typeface="Calibri"/>
            </a:endParaRPr>
          </a:p>
        </p:txBody>
      </p:sp>
      <p:sp>
        <p:nvSpPr>
          <p:cNvPr id="214" name="Google Shape;214;p6"/>
          <p:cNvSpPr/>
          <p:nvPr/>
        </p:nvSpPr>
        <p:spPr>
          <a:xfrm>
            <a:off x="3944810" y="3143427"/>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80 %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d’entraînement</a:t>
            </a:r>
            <a:endParaRPr/>
          </a:p>
        </p:txBody>
      </p:sp>
      <p:sp>
        <p:nvSpPr>
          <p:cNvPr id="215" name="Google Shape;215;p6"/>
          <p:cNvSpPr/>
          <p:nvPr/>
        </p:nvSpPr>
        <p:spPr>
          <a:xfrm>
            <a:off x="5625785" y="3143427"/>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216" name="Google Shape;216;p6"/>
          <p:cNvSpPr/>
          <p:nvPr/>
        </p:nvSpPr>
        <p:spPr>
          <a:xfrm>
            <a:off x="3982722" y="5326202"/>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Entraînement du modèle</a:t>
            </a:r>
            <a:endParaRPr/>
          </a:p>
        </p:txBody>
      </p:sp>
      <p:sp>
        <p:nvSpPr>
          <p:cNvPr id="217" name="Google Shape;217;p6"/>
          <p:cNvSpPr/>
          <p:nvPr/>
        </p:nvSpPr>
        <p:spPr>
          <a:xfrm>
            <a:off x="7652423" y="1304453"/>
            <a:ext cx="32335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5. Prédiction et évaluation des performances</a:t>
            </a:r>
            <a:endParaRPr/>
          </a:p>
        </p:txBody>
      </p:sp>
      <p:sp>
        <p:nvSpPr>
          <p:cNvPr id="218" name="Google Shape;218;p6"/>
          <p:cNvSpPr/>
          <p:nvPr/>
        </p:nvSpPr>
        <p:spPr>
          <a:xfrm>
            <a:off x="9342876" y="2131485"/>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219" name="Google Shape;219;p6"/>
          <p:cNvSpPr/>
          <p:nvPr/>
        </p:nvSpPr>
        <p:spPr>
          <a:xfrm>
            <a:off x="7667637" y="2450268"/>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Prédiction</a:t>
            </a:r>
            <a:endParaRPr/>
          </a:p>
        </p:txBody>
      </p:sp>
      <p:sp>
        <p:nvSpPr>
          <p:cNvPr id="220" name="Google Shape;220;p6"/>
          <p:cNvSpPr/>
          <p:nvPr/>
        </p:nvSpPr>
        <p:spPr>
          <a:xfrm>
            <a:off x="9281076" y="2450267"/>
            <a:ext cx="571010"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sp>
        <p:nvSpPr>
          <p:cNvPr id="221" name="Google Shape;221;p6"/>
          <p:cNvSpPr/>
          <p:nvPr/>
        </p:nvSpPr>
        <p:spPr>
          <a:xfrm>
            <a:off x="7787889" y="3325562"/>
            <a:ext cx="3354244" cy="1015663"/>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Coefficient de détermination</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0 -&gt; Mauvais ajustement du modèle</a:t>
            </a:r>
            <a:endParaRPr/>
          </a:p>
        </p:txBody>
      </p:sp>
      <p:sp>
        <p:nvSpPr>
          <p:cNvPr id="222" name="Google Shape;222;p6"/>
          <p:cNvSpPr/>
          <p:nvPr/>
        </p:nvSpPr>
        <p:spPr>
          <a:xfrm>
            <a:off x="7787889" y="4526343"/>
            <a:ext cx="3354244" cy="646331"/>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Résidus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Bon ajustement du modèle si présence de distribution normale sur le graphique</a:t>
            </a:r>
            <a:endParaRPr/>
          </a:p>
        </p:txBody>
      </p:sp>
      <p:sp>
        <p:nvSpPr>
          <p:cNvPr id="223" name="Google Shape;223;p6"/>
          <p:cNvSpPr/>
          <p:nvPr/>
        </p:nvSpPr>
        <p:spPr>
          <a:xfrm>
            <a:off x="7787889" y="5315325"/>
            <a:ext cx="3354244" cy="1200329"/>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Colinéarité</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Entre 0 et 5 -&gt; Peu de corrélation entre les variables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Entre 6 et 10 -&gt; Corrélation présente entre les variables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&gt; 10 -&gt; Corrélation accrue</a:t>
            </a:r>
            <a:endParaRPr/>
          </a:p>
        </p:txBody>
      </p:sp>
      <p:sp>
        <p:nvSpPr>
          <p:cNvPr id="224" name="Google Shape;224;p6"/>
          <p:cNvSpPr/>
          <p:nvPr/>
        </p:nvSpPr>
        <p:spPr>
          <a:xfrm>
            <a:off x="11217593" y="3308895"/>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0,26</a:t>
            </a:r>
            <a:endParaRPr/>
          </a:p>
        </p:txBody>
      </p:sp>
      <p:sp>
        <p:nvSpPr>
          <p:cNvPr id="225" name="Google Shape;225;p6"/>
          <p:cNvSpPr/>
          <p:nvPr/>
        </p:nvSpPr>
        <p:spPr>
          <a:xfrm>
            <a:off x="11221312" y="4524733"/>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Bon</a:t>
            </a:r>
            <a:endParaRPr/>
          </a:p>
        </p:txBody>
      </p:sp>
      <p:sp>
        <p:nvSpPr>
          <p:cNvPr id="226" name="Google Shape;226;p6"/>
          <p:cNvSpPr/>
          <p:nvPr/>
        </p:nvSpPr>
        <p:spPr>
          <a:xfrm>
            <a:off x="11172251" y="5315325"/>
            <a:ext cx="941564" cy="677108"/>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199</a:t>
            </a:r>
            <a:endParaRPr/>
          </a:p>
          <a:p>
            <a:pPr indent="0" lvl="0" marL="0" marR="0" rtl="0" algn="ctr">
              <a:spcBef>
                <a:spcPts val="0"/>
              </a:spcBef>
              <a:spcAft>
                <a:spcPts val="0"/>
              </a:spcAft>
              <a:buNone/>
            </a:pPr>
            <a:r>
              <a:rPr b="1" lang="fr-FR" sz="1200">
                <a:solidFill>
                  <a:srgbClr val="FF0000"/>
                </a:solidFill>
                <a:latin typeface="Calibri"/>
                <a:ea typeface="Calibri"/>
                <a:cs typeface="Calibri"/>
                <a:sym typeface="Calibri"/>
              </a:rPr>
              <a:t>(height_right et margin_up)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cxnSp>
        <p:nvCxnSpPr>
          <p:cNvPr id="231" name="Google Shape;231;p7"/>
          <p:cNvCxnSpPr/>
          <p:nvPr/>
        </p:nvCxnSpPr>
        <p:spPr>
          <a:xfrm>
            <a:off x="8105775" y="522898"/>
            <a:ext cx="4086225" cy="0"/>
          </a:xfrm>
          <a:prstGeom prst="straightConnector1">
            <a:avLst/>
          </a:prstGeom>
          <a:noFill/>
          <a:ln cap="flat" cmpd="sng" w="9525">
            <a:solidFill>
              <a:srgbClr val="717171"/>
            </a:solidFill>
            <a:prstDash val="solid"/>
            <a:miter lim="800000"/>
            <a:headEnd len="med" w="med" type="oval"/>
            <a:tailEnd len="sm" w="sm" type="none"/>
          </a:ln>
        </p:spPr>
      </p:cxnSp>
      <p:sp>
        <p:nvSpPr>
          <p:cNvPr id="232" name="Google Shape;232;p7"/>
          <p:cNvSpPr txBox="1"/>
          <p:nvPr/>
        </p:nvSpPr>
        <p:spPr>
          <a:xfrm>
            <a:off x="228600" y="190500"/>
            <a:ext cx="11734800" cy="775597"/>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3F3F3F"/>
              </a:buClr>
              <a:buSzPts val="2800"/>
              <a:buFont typeface="Century Gothic"/>
              <a:buNone/>
            </a:pPr>
            <a:r>
              <a:rPr lang="fr-FR" sz="2800">
                <a:solidFill>
                  <a:srgbClr val="3F3F3F"/>
                </a:solidFill>
                <a:latin typeface="Century Gothic"/>
                <a:ea typeface="Century Gothic"/>
                <a:cs typeface="Century Gothic"/>
                <a:sym typeface="Century Gothic"/>
              </a:rPr>
              <a:t>Analyse des </a:t>
            </a:r>
            <a:endParaRPr/>
          </a:p>
          <a:p>
            <a:pPr indent="0" lvl="0" marL="0" marR="0" rtl="0" algn="ctr">
              <a:lnSpc>
                <a:spcPct val="90000"/>
              </a:lnSpc>
              <a:spcBef>
                <a:spcPts val="0"/>
              </a:spcBef>
              <a:spcAft>
                <a:spcPts val="0"/>
              </a:spcAft>
              <a:buClr>
                <a:srgbClr val="3F3F3F"/>
              </a:buClr>
              <a:buSzPts val="2800"/>
              <a:buFont typeface="Century Gothic"/>
              <a:buNone/>
            </a:pPr>
            <a:r>
              <a:rPr lang="fr-FR" sz="2800">
                <a:solidFill>
                  <a:srgbClr val="3F3F3F"/>
                </a:solidFill>
                <a:latin typeface="Century Gothic"/>
                <a:ea typeface="Century Gothic"/>
                <a:cs typeface="Century Gothic"/>
                <a:sym typeface="Century Gothic"/>
              </a:rPr>
              <a:t>données</a:t>
            </a:r>
            <a:endParaRPr/>
          </a:p>
        </p:txBody>
      </p:sp>
      <p:cxnSp>
        <p:nvCxnSpPr>
          <p:cNvPr id="233" name="Google Shape;233;p7"/>
          <p:cNvCxnSpPr/>
          <p:nvPr/>
        </p:nvCxnSpPr>
        <p:spPr>
          <a:xfrm>
            <a:off x="0" y="522898"/>
            <a:ext cx="4086225" cy="0"/>
          </a:xfrm>
          <a:prstGeom prst="straightConnector1">
            <a:avLst/>
          </a:prstGeom>
          <a:noFill/>
          <a:ln cap="flat" cmpd="sng" w="9525">
            <a:solidFill>
              <a:srgbClr val="717171"/>
            </a:solidFill>
            <a:prstDash val="solid"/>
            <a:miter lim="800000"/>
            <a:headEnd len="sm" w="sm" type="none"/>
            <a:tailEnd len="med" w="med" type="oval"/>
          </a:ln>
        </p:spPr>
      </p:cxnSp>
      <p:sp>
        <p:nvSpPr>
          <p:cNvPr id="234" name="Google Shape;234;p7"/>
          <p:cNvSpPr/>
          <p:nvPr/>
        </p:nvSpPr>
        <p:spPr>
          <a:xfrm>
            <a:off x="314021" y="1018578"/>
            <a:ext cx="3605874" cy="1107996"/>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400">
                <a:solidFill>
                  <a:schemeClr val="dk1"/>
                </a:solidFill>
                <a:latin typeface="Calibri"/>
                <a:ea typeface="Calibri"/>
                <a:cs typeface="Calibri"/>
                <a:sym typeface="Calibri"/>
              </a:rPr>
              <a:t>Statistique descriptive afin de mieux comprendre le jeu de données</a:t>
            </a:r>
            <a:endParaRPr/>
          </a:p>
        </p:txBody>
      </p:sp>
      <p:cxnSp>
        <p:nvCxnSpPr>
          <p:cNvPr id="235" name="Google Shape;235;p7"/>
          <p:cNvCxnSpPr/>
          <p:nvPr/>
        </p:nvCxnSpPr>
        <p:spPr>
          <a:xfrm>
            <a:off x="4003266" y="786764"/>
            <a:ext cx="0" cy="1571625"/>
          </a:xfrm>
          <a:prstGeom prst="straightConnector1">
            <a:avLst/>
          </a:prstGeom>
          <a:noFill/>
          <a:ln cap="flat" cmpd="sng" w="28575">
            <a:solidFill>
              <a:srgbClr val="181DA0"/>
            </a:solidFill>
            <a:prstDash val="solid"/>
            <a:miter lim="800000"/>
            <a:headEnd len="sm" w="sm" type="none"/>
            <a:tailEnd len="sm" w="sm" type="none"/>
          </a:ln>
        </p:spPr>
      </p:cxnSp>
      <p:cxnSp>
        <p:nvCxnSpPr>
          <p:cNvPr id="236" name="Google Shape;236;p7"/>
          <p:cNvCxnSpPr/>
          <p:nvPr/>
        </p:nvCxnSpPr>
        <p:spPr>
          <a:xfrm rot="10800000">
            <a:off x="230650" y="786764"/>
            <a:ext cx="3772616" cy="0"/>
          </a:xfrm>
          <a:prstGeom prst="straightConnector1">
            <a:avLst/>
          </a:prstGeom>
          <a:noFill/>
          <a:ln cap="flat" cmpd="sng" w="28575">
            <a:solidFill>
              <a:srgbClr val="181DA0"/>
            </a:solidFill>
            <a:prstDash val="solid"/>
            <a:miter lim="800000"/>
            <a:headEnd len="sm" w="sm" type="none"/>
            <a:tailEnd len="sm" w="sm" type="none"/>
          </a:ln>
        </p:spPr>
      </p:cxnSp>
      <p:cxnSp>
        <p:nvCxnSpPr>
          <p:cNvPr id="237" name="Google Shape;237;p7"/>
          <p:cNvCxnSpPr/>
          <p:nvPr/>
        </p:nvCxnSpPr>
        <p:spPr>
          <a:xfrm rot="10800000">
            <a:off x="230650" y="2348864"/>
            <a:ext cx="3772616" cy="0"/>
          </a:xfrm>
          <a:prstGeom prst="straightConnector1">
            <a:avLst/>
          </a:prstGeom>
          <a:noFill/>
          <a:ln cap="flat" cmpd="sng" w="28575">
            <a:solidFill>
              <a:srgbClr val="181DA0"/>
            </a:solidFill>
            <a:prstDash val="solid"/>
            <a:miter lim="800000"/>
            <a:headEnd len="sm" w="sm" type="none"/>
            <a:tailEnd len="sm" w="sm" type="none"/>
          </a:ln>
        </p:spPr>
      </p:cxnSp>
      <p:cxnSp>
        <p:nvCxnSpPr>
          <p:cNvPr id="238" name="Google Shape;238;p7"/>
          <p:cNvCxnSpPr/>
          <p:nvPr/>
        </p:nvCxnSpPr>
        <p:spPr>
          <a:xfrm>
            <a:off x="240175" y="777239"/>
            <a:ext cx="0" cy="1571625"/>
          </a:xfrm>
          <a:prstGeom prst="straightConnector1">
            <a:avLst/>
          </a:prstGeom>
          <a:noFill/>
          <a:ln cap="flat" cmpd="sng" w="28575">
            <a:solidFill>
              <a:srgbClr val="181DA0"/>
            </a:solidFill>
            <a:prstDash val="solid"/>
            <a:miter lim="800000"/>
            <a:headEnd len="sm" w="sm" type="none"/>
            <a:tailEnd len="sm" w="sm" type="none"/>
          </a:ln>
        </p:spPr>
      </p:cxnSp>
      <p:sp>
        <p:nvSpPr>
          <p:cNvPr id="239" name="Google Shape;239;p7"/>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240" name="Google Shape;240;p7"/>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241" name="Google Shape;241;p7"/>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242" name="Google Shape;242;p7"/>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7</a:t>
            </a:r>
            <a:endParaRPr/>
          </a:p>
        </p:txBody>
      </p:sp>
      <p:pic>
        <p:nvPicPr>
          <p:cNvPr id="243" name="Google Shape;243;p7"/>
          <p:cNvPicPr preferRelativeResize="0"/>
          <p:nvPr/>
        </p:nvPicPr>
        <p:blipFill rotWithShape="1">
          <a:blip r:embed="rId4">
            <a:alphaModFix/>
          </a:blip>
          <a:srcRect b="0" l="0" r="0" t="0"/>
          <a:stretch/>
        </p:blipFill>
        <p:spPr>
          <a:xfrm>
            <a:off x="240175" y="3402608"/>
            <a:ext cx="3765491" cy="2977091"/>
          </a:xfrm>
          <a:prstGeom prst="rect">
            <a:avLst/>
          </a:prstGeom>
          <a:noFill/>
          <a:ln>
            <a:noFill/>
          </a:ln>
        </p:spPr>
      </p:pic>
      <p:sp>
        <p:nvSpPr>
          <p:cNvPr id="244" name="Google Shape;244;p7"/>
          <p:cNvSpPr/>
          <p:nvPr/>
        </p:nvSpPr>
        <p:spPr>
          <a:xfrm>
            <a:off x="459123" y="2551667"/>
            <a:ext cx="3460772" cy="7386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u="sng">
                <a:solidFill>
                  <a:schemeClr val="dk1"/>
                </a:solidFill>
                <a:latin typeface="Calibri"/>
                <a:ea typeface="Calibri"/>
                <a:cs typeface="Calibri"/>
                <a:sym typeface="Calibri"/>
              </a:rPr>
              <a:t>Analyse Univariée </a:t>
            </a:r>
            <a:r>
              <a:rPr lang="fr-FR" sz="2000" u="sng">
                <a:solidFill>
                  <a:schemeClr val="dk1"/>
                </a:solidFill>
                <a:latin typeface="Calibri"/>
                <a:ea typeface="Calibri"/>
                <a:cs typeface="Calibri"/>
                <a:sym typeface="Calibri"/>
              </a:rPr>
              <a:t>(Répartition - Camembert)</a:t>
            </a:r>
            <a:endParaRPr b="1" sz="2800" u="sng">
              <a:solidFill>
                <a:schemeClr val="dk1"/>
              </a:solidFill>
              <a:latin typeface="Calibri"/>
              <a:ea typeface="Calibri"/>
              <a:cs typeface="Calibri"/>
              <a:sym typeface="Calibri"/>
            </a:endParaRPr>
          </a:p>
        </p:txBody>
      </p:sp>
      <p:sp>
        <p:nvSpPr>
          <p:cNvPr id="245" name="Google Shape;245;p7"/>
          <p:cNvSpPr/>
          <p:nvPr/>
        </p:nvSpPr>
        <p:spPr>
          <a:xfrm>
            <a:off x="4347786" y="1349704"/>
            <a:ext cx="32335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Déséquilibre des classes</a:t>
            </a:r>
            <a:endParaRPr/>
          </a:p>
          <a:p>
            <a:pPr indent="0" lvl="0" marL="0" marR="0" rtl="0" algn="ctr">
              <a:spcBef>
                <a:spcPts val="0"/>
              </a:spcBef>
              <a:spcAft>
                <a:spcPts val="0"/>
              </a:spcAft>
              <a:buNone/>
            </a:pPr>
            <a:r>
              <a:rPr b="1" lang="fr-FR" sz="2000">
                <a:solidFill>
                  <a:schemeClr val="dk1"/>
                </a:solidFill>
                <a:latin typeface="Calibri"/>
                <a:ea typeface="Calibri"/>
                <a:cs typeface="Calibri"/>
                <a:sym typeface="Calibri"/>
              </a:rPr>
              <a:t>(vrai/faux)</a:t>
            </a:r>
            <a:endParaRPr/>
          </a:p>
        </p:txBody>
      </p:sp>
      <p:cxnSp>
        <p:nvCxnSpPr>
          <p:cNvPr id="246" name="Google Shape;246;p7"/>
          <p:cNvCxnSpPr/>
          <p:nvPr/>
        </p:nvCxnSpPr>
        <p:spPr>
          <a:xfrm>
            <a:off x="7450330" y="1637914"/>
            <a:ext cx="1676736" cy="0"/>
          </a:xfrm>
          <a:prstGeom prst="straightConnector1">
            <a:avLst/>
          </a:prstGeom>
          <a:noFill/>
          <a:ln cap="flat" cmpd="sng" w="38100">
            <a:solidFill>
              <a:srgbClr val="181DA0"/>
            </a:solidFill>
            <a:prstDash val="solid"/>
            <a:miter lim="800000"/>
            <a:headEnd len="sm" w="sm" type="none"/>
            <a:tailEnd len="med" w="med" type="triangle"/>
          </a:ln>
        </p:spPr>
      </p:cxnSp>
      <p:sp>
        <p:nvSpPr>
          <p:cNvPr id="247" name="Google Shape;247;p7"/>
          <p:cNvSpPr/>
          <p:nvPr/>
        </p:nvSpPr>
        <p:spPr>
          <a:xfrm>
            <a:off x="9063745" y="1349703"/>
            <a:ext cx="32335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Performance des modèles impactés négativement</a:t>
            </a:r>
            <a:endParaRPr/>
          </a:p>
        </p:txBody>
      </p:sp>
      <p:cxnSp>
        <p:nvCxnSpPr>
          <p:cNvPr id="248" name="Google Shape;248;p7"/>
          <p:cNvCxnSpPr/>
          <p:nvPr/>
        </p:nvCxnSpPr>
        <p:spPr>
          <a:xfrm>
            <a:off x="5926331" y="2038066"/>
            <a:ext cx="0" cy="3719268"/>
          </a:xfrm>
          <a:prstGeom prst="straightConnector1">
            <a:avLst/>
          </a:prstGeom>
          <a:noFill/>
          <a:ln cap="flat" cmpd="sng" w="38100">
            <a:solidFill>
              <a:srgbClr val="181DA0"/>
            </a:solidFill>
            <a:prstDash val="solid"/>
            <a:miter lim="800000"/>
            <a:headEnd len="sm" w="sm" type="none"/>
            <a:tailEnd len="sm" w="sm" type="none"/>
          </a:ln>
        </p:spPr>
      </p:cxnSp>
      <p:cxnSp>
        <p:nvCxnSpPr>
          <p:cNvPr id="249" name="Google Shape;249;p7"/>
          <p:cNvCxnSpPr/>
          <p:nvPr/>
        </p:nvCxnSpPr>
        <p:spPr>
          <a:xfrm>
            <a:off x="5926331" y="2921000"/>
            <a:ext cx="821602" cy="0"/>
          </a:xfrm>
          <a:prstGeom prst="straightConnector1">
            <a:avLst/>
          </a:prstGeom>
          <a:noFill/>
          <a:ln cap="flat" cmpd="sng" w="38100">
            <a:solidFill>
              <a:srgbClr val="181DA0"/>
            </a:solidFill>
            <a:prstDash val="solid"/>
            <a:miter lim="800000"/>
            <a:headEnd len="sm" w="sm" type="none"/>
            <a:tailEnd len="sm" w="sm" type="none"/>
          </a:ln>
        </p:spPr>
      </p:cxnSp>
      <p:cxnSp>
        <p:nvCxnSpPr>
          <p:cNvPr id="250" name="Google Shape;250;p7"/>
          <p:cNvCxnSpPr/>
          <p:nvPr/>
        </p:nvCxnSpPr>
        <p:spPr>
          <a:xfrm>
            <a:off x="5926331" y="4398434"/>
            <a:ext cx="821602" cy="0"/>
          </a:xfrm>
          <a:prstGeom prst="straightConnector1">
            <a:avLst/>
          </a:prstGeom>
          <a:noFill/>
          <a:ln cap="flat" cmpd="sng" w="38100">
            <a:solidFill>
              <a:srgbClr val="181DA0"/>
            </a:solidFill>
            <a:prstDash val="solid"/>
            <a:miter lim="800000"/>
            <a:headEnd len="sm" w="sm" type="none"/>
            <a:tailEnd len="sm" w="sm" type="none"/>
          </a:ln>
        </p:spPr>
      </p:cxnSp>
      <p:cxnSp>
        <p:nvCxnSpPr>
          <p:cNvPr id="251" name="Google Shape;251;p7"/>
          <p:cNvCxnSpPr/>
          <p:nvPr/>
        </p:nvCxnSpPr>
        <p:spPr>
          <a:xfrm flipH="1" rot="10800000">
            <a:off x="5907881" y="5757334"/>
            <a:ext cx="840052" cy="2910"/>
          </a:xfrm>
          <a:prstGeom prst="straightConnector1">
            <a:avLst/>
          </a:prstGeom>
          <a:noFill/>
          <a:ln cap="flat" cmpd="sng" w="38100">
            <a:solidFill>
              <a:srgbClr val="181DA0"/>
            </a:solidFill>
            <a:prstDash val="solid"/>
            <a:miter lim="800000"/>
            <a:headEnd len="sm" w="sm" type="none"/>
            <a:tailEnd len="sm" w="sm" type="none"/>
          </a:ln>
        </p:spPr>
      </p:cxnSp>
      <p:sp>
        <p:nvSpPr>
          <p:cNvPr id="252" name="Google Shape;252;p7"/>
          <p:cNvSpPr/>
          <p:nvPr/>
        </p:nvSpPr>
        <p:spPr>
          <a:xfrm>
            <a:off x="6938945" y="2767111"/>
            <a:ext cx="2124800" cy="307777"/>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fr-FR" sz="2000">
                <a:solidFill>
                  <a:schemeClr val="dk1"/>
                </a:solidFill>
                <a:latin typeface="Calibri"/>
                <a:ea typeface="Calibri"/>
                <a:cs typeface="Calibri"/>
                <a:sym typeface="Calibri"/>
              </a:rPr>
              <a:t>Suréchantillonnage</a:t>
            </a:r>
            <a:endParaRPr/>
          </a:p>
        </p:txBody>
      </p:sp>
      <p:sp>
        <p:nvSpPr>
          <p:cNvPr id="253" name="Google Shape;253;p7"/>
          <p:cNvSpPr/>
          <p:nvPr/>
        </p:nvSpPr>
        <p:spPr>
          <a:xfrm>
            <a:off x="6938945" y="4244545"/>
            <a:ext cx="2247388" cy="307777"/>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fr-FR" sz="2000">
                <a:solidFill>
                  <a:schemeClr val="dk1"/>
                </a:solidFill>
                <a:latin typeface="Calibri"/>
                <a:ea typeface="Calibri"/>
                <a:cs typeface="Calibri"/>
                <a:sym typeface="Calibri"/>
              </a:rPr>
              <a:t>Sous échantillonnage</a:t>
            </a:r>
            <a:endParaRPr/>
          </a:p>
        </p:txBody>
      </p:sp>
      <p:sp>
        <p:nvSpPr>
          <p:cNvPr id="254" name="Google Shape;254;p7"/>
          <p:cNvSpPr/>
          <p:nvPr/>
        </p:nvSpPr>
        <p:spPr>
          <a:xfrm>
            <a:off x="6938945" y="5603445"/>
            <a:ext cx="3233597" cy="307777"/>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fr-FR" sz="2000">
                <a:solidFill>
                  <a:schemeClr val="dk1"/>
                </a:solidFill>
                <a:latin typeface="Calibri"/>
                <a:ea typeface="Calibri"/>
                <a:cs typeface="Calibri"/>
                <a:sym typeface="Calibri"/>
              </a:rPr>
              <a:t>Croisement des 2 méthodes</a:t>
            </a:r>
            <a:endParaRPr/>
          </a:p>
        </p:txBody>
      </p:sp>
      <p:sp>
        <p:nvSpPr>
          <p:cNvPr id="255" name="Google Shape;255;p7"/>
          <p:cNvSpPr/>
          <p:nvPr/>
        </p:nvSpPr>
        <p:spPr>
          <a:xfrm>
            <a:off x="9413935" y="2792060"/>
            <a:ext cx="2709381" cy="923330"/>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200"/>
              <a:buFont typeface="Arial"/>
              <a:buChar char="•"/>
            </a:pPr>
            <a:r>
              <a:rPr lang="fr-FR" sz="1200">
                <a:solidFill>
                  <a:schemeClr val="dk1"/>
                </a:solidFill>
                <a:latin typeface="Calibri"/>
                <a:ea typeface="Calibri"/>
                <a:cs typeface="Calibri"/>
                <a:sym typeface="Calibri"/>
              </a:rPr>
              <a:t>Dupliquer échantillons déjà existants de la classe minoritaire</a:t>
            </a:r>
            <a:endParaRPr/>
          </a:p>
          <a:p>
            <a:pPr indent="-342900" lvl="0" marL="342900" marR="0" rtl="0" algn="l">
              <a:spcBef>
                <a:spcPts val="0"/>
              </a:spcBef>
              <a:spcAft>
                <a:spcPts val="0"/>
              </a:spcAft>
              <a:buClr>
                <a:schemeClr val="dk1"/>
              </a:buClr>
              <a:buSzPts val="1200"/>
              <a:buFont typeface="Arial"/>
              <a:buChar char="•"/>
            </a:pPr>
            <a:r>
              <a:rPr lang="fr-FR" sz="1200">
                <a:solidFill>
                  <a:schemeClr val="dk1"/>
                </a:solidFill>
                <a:latin typeface="Calibri"/>
                <a:ea typeface="Calibri"/>
                <a:cs typeface="Calibri"/>
                <a:sym typeface="Calibri"/>
              </a:rPr>
              <a:t>Technique SMOTE, créer de nouveaux échantillons fictifs via les exemples existants</a:t>
            </a:r>
            <a:endParaRPr/>
          </a:p>
        </p:txBody>
      </p:sp>
      <p:sp>
        <p:nvSpPr>
          <p:cNvPr id="256" name="Google Shape;256;p7"/>
          <p:cNvSpPr/>
          <p:nvPr/>
        </p:nvSpPr>
        <p:spPr>
          <a:xfrm>
            <a:off x="9413935" y="4337962"/>
            <a:ext cx="2709381" cy="369332"/>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200"/>
              <a:buFont typeface="Arial"/>
              <a:buChar char="•"/>
            </a:pPr>
            <a:r>
              <a:rPr lang="fr-FR" sz="1200">
                <a:solidFill>
                  <a:schemeClr val="dk1"/>
                </a:solidFill>
                <a:latin typeface="Calibri"/>
                <a:ea typeface="Calibri"/>
                <a:cs typeface="Calibri"/>
                <a:sym typeface="Calibri"/>
              </a:rPr>
              <a:t>Réduire les échantillons de la classe majoritaire à la classe minoritaire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8"/>
          <p:cNvSpPr/>
          <p:nvPr/>
        </p:nvSpPr>
        <p:spPr>
          <a:xfrm>
            <a:off x="242197" y="1231928"/>
            <a:ext cx="3460772" cy="7386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u="sng">
                <a:solidFill>
                  <a:schemeClr val="dk1"/>
                </a:solidFill>
                <a:latin typeface="Calibri"/>
                <a:ea typeface="Calibri"/>
                <a:cs typeface="Calibri"/>
                <a:sym typeface="Calibri"/>
              </a:rPr>
              <a:t>Analyse Univariée </a:t>
            </a:r>
            <a:r>
              <a:rPr lang="fr-FR" sz="2000" u="sng">
                <a:solidFill>
                  <a:schemeClr val="dk1"/>
                </a:solidFill>
                <a:latin typeface="Calibri"/>
                <a:ea typeface="Calibri"/>
                <a:cs typeface="Calibri"/>
                <a:sym typeface="Calibri"/>
              </a:rPr>
              <a:t>(Distribution - Histogramme)</a:t>
            </a:r>
            <a:endParaRPr b="1" sz="2800" u="sng">
              <a:solidFill>
                <a:schemeClr val="dk1"/>
              </a:solidFill>
              <a:latin typeface="Calibri"/>
              <a:ea typeface="Calibri"/>
              <a:cs typeface="Calibri"/>
              <a:sym typeface="Calibri"/>
            </a:endParaRPr>
          </a:p>
        </p:txBody>
      </p:sp>
      <p:sp>
        <p:nvSpPr>
          <p:cNvPr id="262" name="Google Shape;262;p8"/>
          <p:cNvSpPr/>
          <p:nvPr/>
        </p:nvSpPr>
        <p:spPr>
          <a:xfrm>
            <a:off x="4129959" y="1231928"/>
            <a:ext cx="3460772" cy="7386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u="sng">
                <a:solidFill>
                  <a:schemeClr val="dk1"/>
                </a:solidFill>
                <a:latin typeface="Calibri"/>
                <a:ea typeface="Calibri"/>
                <a:cs typeface="Calibri"/>
                <a:sym typeface="Calibri"/>
              </a:rPr>
              <a:t>Analyse Univariée </a:t>
            </a:r>
            <a:r>
              <a:rPr lang="fr-FR" sz="2000" u="sng">
                <a:solidFill>
                  <a:schemeClr val="dk1"/>
                </a:solidFill>
                <a:latin typeface="Calibri"/>
                <a:ea typeface="Calibri"/>
                <a:cs typeface="Calibri"/>
                <a:sym typeface="Calibri"/>
              </a:rPr>
              <a:t>(Dispersion – Box plot)</a:t>
            </a:r>
            <a:endParaRPr b="1" sz="2800" u="sng">
              <a:solidFill>
                <a:schemeClr val="dk1"/>
              </a:solidFill>
              <a:latin typeface="Calibri"/>
              <a:ea typeface="Calibri"/>
              <a:cs typeface="Calibri"/>
              <a:sym typeface="Calibri"/>
            </a:endParaRPr>
          </a:p>
        </p:txBody>
      </p:sp>
      <p:sp>
        <p:nvSpPr>
          <p:cNvPr id="263" name="Google Shape;263;p8"/>
          <p:cNvSpPr/>
          <p:nvPr/>
        </p:nvSpPr>
        <p:spPr>
          <a:xfrm>
            <a:off x="8137753" y="1231928"/>
            <a:ext cx="3690540" cy="73866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u="sng">
                <a:solidFill>
                  <a:schemeClr val="dk1"/>
                </a:solidFill>
                <a:latin typeface="Calibri"/>
                <a:ea typeface="Calibri"/>
                <a:cs typeface="Calibri"/>
                <a:sym typeface="Calibri"/>
              </a:rPr>
              <a:t>Analyse Bivariée </a:t>
            </a:r>
            <a:r>
              <a:rPr lang="fr-FR" sz="2000" u="sng">
                <a:solidFill>
                  <a:schemeClr val="dk1"/>
                </a:solidFill>
                <a:latin typeface="Calibri"/>
                <a:ea typeface="Calibri"/>
                <a:cs typeface="Calibri"/>
                <a:sym typeface="Calibri"/>
              </a:rPr>
              <a:t>(Corrélation – Heatmap)</a:t>
            </a:r>
            <a:endParaRPr b="1" sz="2800" u="sng">
              <a:solidFill>
                <a:schemeClr val="dk1"/>
              </a:solidFill>
              <a:latin typeface="Calibri"/>
              <a:ea typeface="Calibri"/>
              <a:cs typeface="Calibri"/>
              <a:sym typeface="Calibri"/>
            </a:endParaRPr>
          </a:p>
        </p:txBody>
      </p:sp>
      <p:pic>
        <p:nvPicPr>
          <p:cNvPr id="264" name="Google Shape;264;p8"/>
          <p:cNvPicPr preferRelativeResize="0"/>
          <p:nvPr/>
        </p:nvPicPr>
        <p:blipFill rotWithShape="1">
          <a:blip r:embed="rId3">
            <a:alphaModFix/>
          </a:blip>
          <a:srcRect b="0" l="0" r="66126" t="0"/>
          <a:stretch/>
        </p:blipFill>
        <p:spPr>
          <a:xfrm>
            <a:off x="7918044" y="2232385"/>
            <a:ext cx="4129959" cy="4030663"/>
          </a:xfrm>
          <a:prstGeom prst="rect">
            <a:avLst/>
          </a:prstGeom>
          <a:noFill/>
          <a:ln>
            <a:noFill/>
          </a:ln>
        </p:spPr>
      </p:pic>
      <p:pic>
        <p:nvPicPr>
          <p:cNvPr id="265" name="Google Shape;265;p8"/>
          <p:cNvPicPr preferRelativeResize="0"/>
          <p:nvPr/>
        </p:nvPicPr>
        <p:blipFill rotWithShape="1">
          <a:blip r:embed="rId4">
            <a:alphaModFix/>
          </a:blip>
          <a:srcRect b="0" l="0" r="65414" t="51572"/>
          <a:stretch/>
        </p:blipFill>
        <p:spPr>
          <a:xfrm>
            <a:off x="3891255" y="2232385"/>
            <a:ext cx="3748359" cy="3482901"/>
          </a:xfrm>
          <a:prstGeom prst="rect">
            <a:avLst/>
          </a:prstGeom>
          <a:noFill/>
          <a:ln>
            <a:noFill/>
          </a:ln>
        </p:spPr>
      </p:pic>
      <p:pic>
        <p:nvPicPr>
          <p:cNvPr id="266" name="Google Shape;266;p8"/>
          <p:cNvPicPr preferRelativeResize="0"/>
          <p:nvPr/>
        </p:nvPicPr>
        <p:blipFill rotWithShape="1">
          <a:blip r:embed="rId5">
            <a:alphaModFix/>
          </a:blip>
          <a:srcRect b="0" l="0" r="66487" t="52201"/>
          <a:stretch/>
        </p:blipFill>
        <p:spPr>
          <a:xfrm>
            <a:off x="242197" y="2334816"/>
            <a:ext cx="3460772" cy="3278038"/>
          </a:xfrm>
          <a:prstGeom prst="rect">
            <a:avLst/>
          </a:prstGeom>
          <a:noFill/>
          <a:ln>
            <a:noFill/>
          </a:ln>
        </p:spPr>
      </p:pic>
      <p:sp>
        <p:nvSpPr>
          <p:cNvPr id="267" name="Google Shape;267;p8"/>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268" name="Google Shape;268;p8"/>
          <p:cNvPicPr preferRelativeResize="0"/>
          <p:nvPr/>
        </p:nvPicPr>
        <p:blipFill rotWithShape="1">
          <a:blip r:embed="rId6">
            <a:alphaModFix/>
          </a:blip>
          <a:srcRect b="19360" l="0" r="0" t="16164"/>
          <a:stretch/>
        </p:blipFill>
        <p:spPr>
          <a:xfrm>
            <a:off x="37592" y="6548411"/>
            <a:ext cx="382015" cy="246307"/>
          </a:xfrm>
          <a:prstGeom prst="rect">
            <a:avLst/>
          </a:prstGeom>
          <a:noFill/>
          <a:ln>
            <a:noFill/>
          </a:ln>
        </p:spPr>
      </p:pic>
      <p:sp>
        <p:nvSpPr>
          <p:cNvPr id="269" name="Google Shape;269;p8"/>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270" name="Google Shape;270;p8"/>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cxnSp>
        <p:nvCxnSpPr>
          <p:cNvPr id="275" name="Google Shape;275;p9"/>
          <p:cNvCxnSpPr/>
          <p:nvPr/>
        </p:nvCxnSpPr>
        <p:spPr>
          <a:xfrm>
            <a:off x="8105775" y="522898"/>
            <a:ext cx="4086225" cy="0"/>
          </a:xfrm>
          <a:prstGeom prst="straightConnector1">
            <a:avLst/>
          </a:prstGeom>
          <a:noFill/>
          <a:ln cap="flat" cmpd="sng" w="9525">
            <a:solidFill>
              <a:srgbClr val="717171"/>
            </a:solidFill>
            <a:prstDash val="solid"/>
            <a:miter lim="800000"/>
            <a:headEnd len="med" w="med" type="oval"/>
            <a:tailEnd len="sm" w="sm" type="none"/>
          </a:ln>
        </p:spPr>
      </p:cxnSp>
      <p:sp>
        <p:nvSpPr>
          <p:cNvPr id="276" name="Google Shape;276;p9"/>
          <p:cNvSpPr txBox="1"/>
          <p:nvPr/>
        </p:nvSpPr>
        <p:spPr>
          <a:xfrm>
            <a:off x="228600" y="190500"/>
            <a:ext cx="11734800" cy="775597"/>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3F3F3F"/>
              </a:buClr>
              <a:buSzPts val="2800"/>
              <a:buFont typeface="Century Gothic"/>
              <a:buNone/>
            </a:pPr>
            <a:r>
              <a:rPr lang="fr-FR" sz="2800">
                <a:solidFill>
                  <a:srgbClr val="3F3F3F"/>
                </a:solidFill>
                <a:latin typeface="Century Gothic"/>
                <a:ea typeface="Century Gothic"/>
                <a:cs typeface="Century Gothic"/>
                <a:sym typeface="Century Gothic"/>
              </a:rPr>
              <a:t>Modèle</a:t>
            </a:r>
            <a:endParaRPr/>
          </a:p>
          <a:p>
            <a:pPr indent="0" lvl="0" marL="0" marR="0" rtl="0" algn="ctr">
              <a:lnSpc>
                <a:spcPct val="90000"/>
              </a:lnSpc>
              <a:spcBef>
                <a:spcPts val="0"/>
              </a:spcBef>
              <a:spcAft>
                <a:spcPts val="0"/>
              </a:spcAft>
              <a:buClr>
                <a:srgbClr val="3F3F3F"/>
              </a:buClr>
              <a:buSzPts val="2800"/>
              <a:buFont typeface="Century Gothic"/>
              <a:buNone/>
            </a:pPr>
            <a:r>
              <a:rPr lang="fr-FR" sz="2800">
                <a:solidFill>
                  <a:srgbClr val="3F3F3F"/>
                </a:solidFill>
                <a:latin typeface="Century Gothic"/>
                <a:ea typeface="Century Gothic"/>
                <a:cs typeface="Century Gothic"/>
                <a:sym typeface="Century Gothic"/>
              </a:rPr>
              <a:t>et prédiction</a:t>
            </a:r>
            <a:endParaRPr/>
          </a:p>
        </p:txBody>
      </p:sp>
      <p:cxnSp>
        <p:nvCxnSpPr>
          <p:cNvPr id="277" name="Google Shape;277;p9"/>
          <p:cNvCxnSpPr/>
          <p:nvPr/>
        </p:nvCxnSpPr>
        <p:spPr>
          <a:xfrm>
            <a:off x="0" y="522898"/>
            <a:ext cx="4086225" cy="0"/>
          </a:xfrm>
          <a:prstGeom prst="straightConnector1">
            <a:avLst/>
          </a:prstGeom>
          <a:noFill/>
          <a:ln cap="flat" cmpd="sng" w="9525">
            <a:solidFill>
              <a:srgbClr val="717171"/>
            </a:solidFill>
            <a:prstDash val="solid"/>
            <a:miter lim="800000"/>
            <a:headEnd len="sm" w="sm" type="none"/>
            <a:tailEnd len="med" w="med" type="oval"/>
          </a:ln>
        </p:spPr>
      </p:cxnSp>
      <p:sp>
        <p:nvSpPr>
          <p:cNvPr id="278" name="Google Shape;278;p9"/>
          <p:cNvSpPr/>
          <p:nvPr/>
        </p:nvSpPr>
        <p:spPr>
          <a:xfrm>
            <a:off x="359516" y="1823428"/>
            <a:ext cx="3609573"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Prédiction de la nature d’un billet (Vrai/Faux)</a:t>
            </a:r>
            <a:endParaRPr/>
          </a:p>
        </p:txBody>
      </p:sp>
      <p:cxnSp>
        <p:nvCxnSpPr>
          <p:cNvPr id="279" name="Google Shape;279;p9"/>
          <p:cNvCxnSpPr/>
          <p:nvPr/>
        </p:nvCxnSpPr>
        <p:spPr>
          <a:xfrm>
            <a:off x="2531533" y="3506816"/>
            <a:ext cx="990600" cy="0"/>
          </a:xfrm>
          <a:prstGeom prst="straightConnector1">
            <a:avLst/>
          </a:prstGeom>
          <a:noFill/>
          <a:ln cap="flat" cmpd="sng" w="38100">
            <a:solidFill>
              <a:srgbClr val="181DA0"/>
            </a:solidFill>
            <a:prstDash val="solid"/>
            <a:miter lim="800000"/>
            <a:headEnd len="sm" w="sm" type="none"/>
            <a:tailEnd len="med" w="med" type="triangle"/>
          </a:ln>
        </p:spPr>
      </p:cxnSp>
      <p:sp>
        <p:nvSpPr>
          <p:cNvPr id="280" name="Google Shape;280;p9"/>
          <p:cNvSpPr/>
          <p:nvPr/>
        </p:nvSpPr>
        <p:spPr>
          <a:xfrm>
            <a:off x="-549665" y="3327529"/>
            <a:ext cx="3763746"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Variable à prédire</a:t>
            </a:r>
            <a:endParaRPr/>
          </a:p>
        </p:txBody>
      </p:sp>
      <p:sp>
        <p:nvSpPr>
          <p:cNvPr id="281" name="Google Shape;281;p9"/>
          <p:cNvSpPr/>
          <p:nvPr/>
        </p:nvSpPr>
        <p:spPr>
          <a:xfrm>
            <a:off x="3429000" y="3199039"/>
            <a:ext cx="2150846"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Qualitative</a:t>
            </a:r>
            <a:endParaRPr/>
          </a:p>
          <a:p>
            <a:pPr indent="0" lvl="0" marL="0" marR="0" rtl="0" algn="ctr">
              <a:spcBef>
                <a:spcPts val="0"/>
              </a:spcBef>
              <a:spcAft>
                <a:spcPts val="0"/>
              </a:spcAft>
              <a:buNone/>
            </a:pPr>
            <a:r>
              <a:rPr b="1" lang="fr-FR" sz="2000">
                <a:solidFill>
                  <a:schemeClr val="dk1"/>
                </a:solidFill>
                <a:latin typeface="Calibri"/>
                <a:ea typeface="Calibri"/>
                <a:cs typeface="Calibri"/>
                <a:sym typeface="Calibri"/>
              </a:rPr>
              <a:t>(is_genuine)</a:t>
            </a:r>
            <a:endParaRPr/>
          </a:p>
        </p:txBody>
      </p:sp>
      <p:cxnSp>
        <p:nvCxnSpPr>
          <p:cNvPr id="282" name="Google Shape;282;p9"/>
          <p:cNvCxnSpPr/>
          <p:nvPr/>
        </p:nvCxnSpPr>
        <p:spPr>
          <a:xfrm>
            <a:off x="2570614" y="4566658"/>
            <a:ext cx="990600" cy="0"/>
          </a:xfrm>
          <a:prstGeom prst="straightConnector1">
            <a:avLst/>
          </a:prstGeom>
          <a:noFill/>
          <a:ln cap="flat" cmpd="sng" w="38100">
            <a:solidFill>
              <a:srgbClr val="181DA0"/>
            </a:solidFill>
            <a:prstDash val="solid"/>
            <a:miter lim="800000"/>
            <a:headEnd len="sm" w="sm" type="none"/>
            <a:tailEnd len="med" w="med" type="triangle"/>
          </a:ln>
        </p:spPr>
      </p:cxnSp>
      <p:sp>
        <p:nvSpPr>
          <p:cNvPr id="283" name="Google Shape;283;p9"/>
          <p:cNvSpPr/>
          <p:nvPr/>
        </p:nvSpPr>
        <p:spPr>
          <a:xfrm>
            <a:off x="327616" y="4258881"/>
            <a:ext cx="2150846"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Variables explicatives</a:t>
            </a:r>
            <a:endParaRPr/>
          </a:p>
        </p:txBody>
      </p:sp>
      <p:sp>
        <p:nvSpPr>
          <p:cNvPr id="284" name="Google Shape;284;p9"/>
          <p:cNvSpPr/>
          <p:nvPr/>
        </p:nvSpPr>
        <p:spPr>
          <a:xfrm>
            <a:off x="3653366" y="4131337"/>
            <a:ext cx="2150846" cy="92333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Quantitative</a:t>
            </a:r>
            <a:endParaRPr/>
          </a:p>
          <a:p>
            <a:pPr indent="0" lvl="0" marL="0" marR="0" rtl="0" algn="ctr">
              <a:spcBef>
                <a:spcPts val="0"/>
              </a:spcBef>
              <a:spcAft>
                <a:spcPts val="0"/>
              </a:spcAft>
              <a:buNone/>
            </a:pPr>
            <a:r>
              <a:rPr b="1" lang="fr-FR" sz="2000">
                <a:solidFill>
                  <a:schemeClr val="dk1"/>
                </a:solidFill>
                <a:latin typeface="Calibri"/>
                <a:ea typeface="Calibri"/>
                <a:cs typeface="Calibri"/>
                <a:sym typeface="Calibri"/>
              </a:rPr>
              <a:t>(toutes les variables de dimension)</a:t>
            </a:r>
            <a:endParaRPr/>
          </a:p>
        </p:txBody>
      </p:sp>
      <p:sp>
        <p:nvSpPr>
          <p:cNvPr id="285" name="Google Shape;285;p9"/>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286" name="Google Shape;286;p9"/>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287" name="Google Shape;287;p9"/>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288" name="Google Shape;288;p9"/>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9</a:t>
            </a:r>
            <a:endParaRPr/>
          </a:p>
        </p:txBody>
      </p:sp>
      <p:sp>
        <p:nvSpPr>
          <p:cNvPr id="289" name="Google Shape;289;p9"/>
          <p:cNvSpPr/>
          <p:nvPr/>
        </p:nvSpPr>
        <p:spPr>
          <a:xfrm>
            <a:off x="5293940" y="2946400"/>
            <a:ext cx="840471" cy="2387600"/>
          </a:xfrm>
          <a:prstGeom prst="rightBracket">
            <a:avLst>
              <a:gd fmla="val 8333" name="adj"/>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Quattrocento Sans"/>
              <a:ea typeface="Quattrocento Sans"/>
              <a:cs typeface="Quattrocento Sans"/>
              <a:sym typeface="Quattrocento Sans"/>
            </a:endParaRPr>
          </a:p>
        </p:txBody>
      </p:sp>
      <p:cxnSp>
        <p:nvCxnSpPr>
          <p:cNvPr id="290" name="Google Shape;290;p9"/>
          <p:cNvCxnSpPr/>
          <p:nvPr/>
        </p:nvCxnSpPr>
        <p:spPr>
          <a:xfrm>
            <a:off x="6134411" y="4116020"/>
            <a:ext cx="1282389" cy="0"/>
          </a:xfrm>
          <a:prstGeom prst="straightConnector1">
            <a:avLst/>
          </a:prstGeom>
          <a:noFill/>
          <a:ln cap="flat" cmpd="sng" w="38100">
            <a:solidFill>
              <a:srgbClr val="181DA0"/>
            </a:solidFill>
            <a:prstDash val="solid"/>
            <a:miter lim="800000"/>
            <a:headEnd len="sm" w="sm" type="none"/>
            <a:tailEnd len="med" w="med" type="triangle"/>
          </a:ln>
        </p:spPr>
      </p:cxnSp>
      <p:sp>
        <p:nvSpPr>
          <p:cNvPr id="291" name="Google Shape;291;p9"/>
          <p:cNvSpPr/>
          <p:nvPr/>
        </p:nvSpPr>
        <p:spPr>
          <a:xfrm>
            <a:off x="7507949" y="2167467"/>
            <a:ext cx="4546600" cy="3776134"/>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292" name="Google Shape;292;p9"/>
          <p:cNvSpPr/>
          <p:nvPr/>
        </p:nvSpPr>
        <p:spPr>
          <a:xfrm>
            <a:off x="8111002" y="2454538"/>
            <a:ext cx="3721482" cy="3077766"/>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Régression logistique</a:t>
            </a:r>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Kmeans</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Random Forest</a:t>
            </a:r>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XGBoost</a:t>
            </a:r>
            <a:endParaRPr sz="2000">
              <a:solidFill>
                <a:schemeClr val="dk1"/>
              </a:solidFill>
              <a:latin typeface="Calibri"/>
              <a:ea typeface="Calibri"/>
              <a:cs typeface="Calibri"/>
              <a:sym typeface="Calibri"/>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Stacking (Random Forest + XGBoost)</a:t>
            </a:r>
            <a:endParaRPr sz="20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0"/>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298" name="Google Shape;298;p10"/>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299" name="Google Shape;299;p10"/>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300" name="Google Shape;300;p10"/>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10</a:t>
            </a:r>
            <a:endParaRPr/>
          </a:p>
        </p:txBody>
      </p:sp>
      <p:sp>
        <p:nvSpPr>
          <p:cNvPr id="301" name="Google Shape;301;p10"/>
          <p:cNvSpPr txBox="1"/>
          <p:nvPr/>
        </p:nvSpPr>
        <p:spPr>
          <a:xfrm>
            <a:off x="37592" y="226423"/>
            <a:ext cx="58166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Régression logistique</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Modèle de classification qui est une extension du modèle de régression linéaire pour les variables observées binaires</a:t>
            </a:r>
            <a:endParaRPr sz="1600">
              <a:solidFill>
                <a:schemeClr val="dk1"/>
              </a:solidFill>
              <a:latin typeface="Quattrocento Sans"/>
              <a:ea typeface="Quattrocento Sans"/>
              <a:cs typeface="Quattrocento Sans"/>
              <a:sym typeface="Quattrocento Sans"/>
            </a:endParaRPr>
          </a:p>
        </p:txBody>
      </p:sp>
      <p:sp>
        <p:nvSpPr>
          <p:cNvPr id="302" name="Google Shape;302;p10"/>
          <p:cNvSpPr/>
          <p:nvPr/>
        </p:nvSpPr>
        <p:spPr>
          <a:xfrm>
            <a:off x="1227170" y="1941964"/>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1. Préparation des données</a:t>
            </a:r>
            <a:endParaRPr/>
          </a:p>
        </p:txBody>
      </p:sp>
      <p:sp>
        <p:nvSpPr>
          <p:cNvPr id="303" name="Google Shape;303;p10"/>
          <p:cNvSpPr/>
          <p:nvPr/>
        </p:nvSpPr>
        <p:spPr>
          <a:xfrm>
            <a:off x="1301442" y="3384793"/>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Division du jeu de données</a:t>
            </a:r>
            <a:endParaRPr/>
          </a:p>
        </p:txBody>
      </p:sp>
      <p:sp>
        <p:nvSpPr>
          <p:cNvPr id="304" name="Google Shape;304;p10"/>
          <p:cNvSpPr/>
          <p:nvPr/>
        </p:nvSpPr>
        <p:spPr>
          <a:xfrm>
            <a:off x="891032" y="4770871"/>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Choix de la donnée</a:t>
            </a:r>
            <a:endParaRPr/>
          </a:p>
        </p:txBody>
      </p:sp>
      <p:cxnSp>
        <p:nvCxnSpPr>
          <p:cNvPr id="305" name="Google Shape;305;p10"/>
          <p:cNvCxnSpPr/>
          <p:nvPr/>
        </p:nvCxnSpPr>
        <p:spPr>
          <a:xfrm>
            <a:off x="1650437" y="5078648"/>
            <a:ext cx="0" cy="425981"/>
          </a:xfrm>
          <a:prstGeom prst="straightConnector1">
            <a:avLst/>
          </a:prstGeom>
          <a:noFill/>
          <a:ln cap="flat" cmpd="sng" w="38100">
            <a:solidFill>
              <a:srgbClr val="181DA0"/>
            </a:solidFill>
            <a:prstDash val="solid"/>
            <a:miter lim="800000"/>
            <a:headEnd len="sm" w="sm" type="none"/>
            <a:tailEnd len="sm" w="sm" type="none"/>
          </a:ln>
        </p:spPr>
      </p:cxnSp>
      <p:cxnSp>
        <p:nvCxnSpPr>
          <p:cNvPr id="306" name="Google Shape;306;p10"/>
          <p:cNvCxnSpPr/>
          <p:nvPr/>
        </p:nvCxnSpPr>
        <p:spPr>
          <a:xfrm>
            <a:off x="1636149" y="5486372"/>
            <a:ext cx="601469" cy="0"/>
          </a:xfrm>
          <a:prstGeom prst="straightConnector1">
            <a:avLst/>
          </a:prstGeom>
          <a:noFill/>
          <a:ln cap="flat" cmpd="sng" w="38100">
            <a:solidFill>
              <a:srgbClr val="181DA0"/>
            </a:solidFill>
            <a:prstDash val="solid"/>
            <a:miter lim="800000"/>
            <a:headEnd len="sm" w="sm" type="none"/>
            <a:tailEnd len="med" w="med" type="triangle"/>
          </a:ln>
        </p:spPr>
      </p:cxnSp>
      <p:sp>
        <p:nvSpPr>
          <p:cNvPr id="307" name="Google Shape;307;p10"/>
          <p:cNvSpPr/>
          <p:nvPr/>
        </p:nvSpPr>
        <p:spPr>
          <a:xfrm>
            <a:off x="1936883" y="5347872"/>
            <a:ext cx="3233599" cy="2769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 brute – 1</a:t>
            </a:r>
            <a:r>
              <a:rPr baseline="30000" lang="fr-FR" sz="1800">
                <a:solidFill>
                  <a:schemeClr val="dk1"/>
                </a:solidFill>
                <a:latin typeface="Calibri"/>
                <a:ea typeface="Calibri"/>
                <a:cs typeface="Calibri"/>
                <a:sym typeface="Calibri"/>
              </a:rPr>
              <a:t>er</a:t>
            </a:r>
            <a:r>
              <a:rPr lang="fr-FR" sz="1800">
                <a:solidFill>
                  <a:schemeClr val="dk1"/>
                </a:solidFill>
                <a:latin typeface="Calibri"/>
                <a:ea typeface="Calibri"/>
                <a:cs typeface="Calibri"/>
                <a:sym typeface="Calibri"/>
              </a:rPr>
              <a:t> version</a:t>
            </a:r>
            <a:endParaRPr/>
          </a:p>
        </p:txBody>
      </p:sp>
      <p:sp>
        <p:nvSpPr>
          <p:cNvPr id="308" name="Google Shape;308;p10"/>
          <p:cNvSpPr/>
          <p:nvPr/>
        </p:nvSpPr>
        <p:spPr>
          <a:xfrm>
            <a:off x="1147330" y="2345304"/>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X</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Variables de dimension</a:t>
            </a:r>
            <a:endParaRPr/>
          </a:p>
        </p:txBody>
      </p:sp>
      <p:sp>
        <p:nvSpPr>
          <p:cNvPr id="309" name="Google Shape;309;p10"/>
          <p:cNvSpPr/>
          <p:nvPr/>
        </p:nvSpPr>
        <p:spPr>
          <a:xfrm>
            <a:off x="2846992" y="2345304"/>
            <a:ext cx="2065092" cy="58477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Y</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Is_genuine</a:t>
            </a:r>
            <a:endParaRPr sz="1800">
              <a:solidFill>
                <a:schemeClr val="dk1"/>
              </a:solidFill>
              <a:latin typeface="Calibri"/>
              <a:ea typeface="Calibri"/>
              <a:cs typeface="Calibri"/>
              <a:sym typeface="Calibri"/>
            </a:endParaRPr>
          </a:p>
        </p:txBody>
      </p:sp>
      <p:sp>
        <p:nvSpPr>
          <p:cNvPr id="310" name="Google Shape;310;p10"/>
          <p:cNvSpPr/>
          <p:nvPr/>
        </p:nvSpPr>
        <p:spPr>
          <a:xfrm>
            <a:off x="1189257" y="3788133"/>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80 %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d’entraînement</a:t>
            </a:r>
            <a:endParaRPr/>
          </a:p>
        </p:txBody>
      </p:sp>
      <p:sp>
        <p:nvSpPr>
          <p:cNvPr id="311" name="Google Shape;311;p10"/>
          <p:cNvSpPr/>
          <p:nvPr/>
        </p:nvSpPr>
        <p:spPr>
          <a:xfrm>
            <a:off x="2870232" y="3788133"/>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312" name="Google Shape;312;p10"/>
          <p:cNvSpPr/>
          <p:nvPr/>
        </p:nvSpPr>
        <p:spPr>
          <a:xfrm>
            <a:off x="1227169" y="5970908"/>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Entraînement du modèle</a:t>
            </a:r>
            <a:endParaRPr/>
          </a:p>
        </p:txBody>
      </p:sp>
      <p:sp>
        <p:nvSpPr>
          <p:cNvPr id="313" name="Google Shape;313;p10"/>
          <p:cNvSpPr/>
          <p:nvPr/>
        </p:nvSpPr>
        <p:spPr>
          <a:xfrm>
            <a:off x="5723467" y="150368"/>
            <a:ext cx="2756408" cy="92333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5. Prédiction et évaluation des performances</a:t>
            </a:r>
            <a:endParaRPr/>
          </a:p>
        </p:txBody>
      </p:sp>
      <p:cxnSp>
        <p:nvCxnSpPr>
          <p:cNvPr id="314" name="Google Shape;314;p10"/>
          <p:cNvCxnSpPr/>
          <p:nvPr/>
        </p:nvCxnSpPr>
        <p:spPr>
          <a:xfrm>
            <a:off x="5723467" y="226423"/>
            <a:ext cx="0" cy="1219260"/>
          </a:xfrm>
          <a:prstGeom prst="straightConnector1">
            <a:avLst/>
          </a:prstGeom>
          <a:noFill/>
          <a:ln cap="flat" cmpd="sng" w="28575">
            <a:solidFill>
              <a:srgbClr val="181DA0"/>
            </a:solidFill>
            <a:prstDash val="solid"/>
            <a:miter lim="800000"/>
            <a:headEnd len="sm" w="sm" type="none"/>
            <a:tailEnd len="sm" w="sm" type="none"/>
          </a:ln>
        </p:spPr>
      </p:cxnSp>
      <p:cxnSp>
        <p:nvCxnSpPr>
          <p:cNvPr id="315" name="Google Shape;315;p10"/>
          <p:cNvCxnSpPr/>
          <p:nvPr/>
        </p:nvCxnSpPr>
        <p:spPr>
          <a:xfrm rot="10800000">
            <a:off x="419607" y="1445683"/>
            <a:ext cx="5303860" cy="0"/>
          </a:xfrm>
          <a:prstGeom prst="straightConnector1">
            <a:avLst/>
          </a:prstGeom>
          <a:noFill/>
          <a:ln cap="flat" cmpd="sng" w="28575">
            <a:solidFill>
              <a:srgbClr val="181DA0"/>
            </a:solidFill>
            <a:prstDash val="solid"/>
            <a:miter lim="800000"/>
            <a:headEnd len="sm" w="sm" type="none"/>
            <a:tailEnd len="sm" w="sm" type="none"/>
          </a:ln>
        </p:spPr>
      </p:cxnSp>
      <p:sp>
        <p:nvSpPr>
          <p:cNvPr id="316" name="Google Shape;316;p10"/>
          <p:cNvSpPr/>
          <p:nvPr/>
        </p:nvSpPr>
        <p:spPr>
          <a:xfrm>
            <a:off x="9989457" y="205566"/>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317" name="Google Shape;317;p10"/>
          <p:cNvSpPr/>
          <p:nvPr/>
        </p:nvSpPr>
        <p:spPr>
          <a:xfrm>
            <a:off x="8314218" y="524349"/>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Prédiction</a:t>
            </a:r>
            <a:endParaRPr/>
          </a:p>
        </p:txBody>
      </p:sp>
      <p:sp>
        <p:nvSpPr>
          <p:cNvPr id="318" name="Google Shape;318;p10"/>
          <p:cNvSpPr/>
          <p:nvPr/>
        </p:nvSpPr>
        <p:spPr>
          <a:xfrm>
            <a:off x="9927657" y="524348"/>
            <a:ext cx="571010"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sp>
        <p:nvSpPr>
          <p:cNvPr id="319" name="Google Shape;319;p10"/>
          <p:cNvSpPr/>
          <p:nvPr/>
        </p:nvSpPr>
        <p:spPr>
          <a:xfrm>
            <a:off x="5698549" y="1846706"/>
            <a:ext cx="3354244" cy="646331"/>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Aire sous la courbe (AUC-ROC)</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 et inversement</a:t>
            </a:r>
            <a:endParaRPr/>
          </a:p>
        </p:txBody>
      </p:sp>
      <p:sp>
        <p:nvSpPr>
          <p:cNvPr id="320" name="Google Shape;320;p10"/>
          <p:cNvSpPr/>
          <p:nvPr/>
        </p:nvSpPr>
        <p:spPr>
          <a:xfrm>
            <a:off x="5664317" y="2635227"/>
            <a:ext cx="3354244" cy="461665"/>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Matrice de confusion</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Compte rendu sur l’état des prédictions</a:t>
            </a:r>
            <a:endParaRPr/>
          </a:p>
        </p:txBody>
      </p:sp>
      <p:sp>
        <p:nvSpPr>
          <p:cNvPr id="321" name="Google Shape;321;p10"/>
          <p:cNvSpPr/>
          <p:nvPr/>
        </p:nvSpPr>
        <p:spPr>
          <a:xfrm>
            <a:off x="5666970" y="3144674"/>
            <a:ext cx="3354244" cy="1846659"/>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Rapport de classification (F1-Score)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Rappel -&gt; Mesure la qualité d’identification des vrais exemples positifs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Précision -&gt; Mesure la qualité des prédictions positives correctes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 et inversement</a:t>
            </a:r>
            <a:endParaRPr/>
          </a:p>
        </p:txBody>
      </p:sp>
      <p:sp>
        <p:nvSpPr>
          <p:cNvPr id="322" name="Google Shape;322;p10"/>
          <p:cNvSpPr/>
          <p:nvPr/>
        </p:nvSpPr>
        <p:spPr>
          <a:xfrm>
            <a:off x="9264386" y="2015982"/>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0,9996</a:t>
            </a:r>
            <a:endParaRPr/>
          </a:p>
        </p:txBody>
      </p:sp>
      <p:cxnSp>
        <p:nvCxnSpPr>
          <p:cNvPr id="323" name="Google Shape;323;p10"/>
          <p:cNvCxnSpPr/>
          <p:nvPr/>
        </p:nvCxnSpPr>
        <p:spPr>
          <a:xfrm>
            <a:off x="10483522" y="1407756"/>
            <a:ext cx="15145" cy="4870929"/>
          </a:xfrm>
          <a:prstGeom prst="straightConnector1">
            <a:avLst/>
          </a:prstGeom>
          <a:noFill/>
          <a:ln cap="flat" cmpd="sng" w="28575">
            <a:solidFill>
              <a:srgbClr val="181DA0"/>
            </a:solidFill>
            <a:prstDash val="solid"/>
            <a:miter lim="800000"/>
            <a:headEnd len="sm" w="sm" type="none"/>
            <a:tailEnd len="sm" w="sm" type="none"/>
          </a:ln>
        </p:spPr>
      </p:cxnSp>
      <p:sp>
        <p:nvSpPr>
          <p:cNvPr id="324" name="Google Shape;324;p10"/>
          <p:cNvSpPr/>
          <p:nvPr/>
        </p:nvSpPr>
        <p:spPr>
          <a:xfrm>
            <a:off x="8601310" y="1389935"/>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Brute</a:t>
            </a:r>
            <a:endParaRPr/>
          </a:p>
        </p:txBody>
      </p:sp>
      <p:sp>
        <p:nvSpPr>
          <p:cNvPr id="325" name="Google Shape;325;p10"/>
          <p:cNvSpPr/>
          <p:nvPr/>
        </p:nvSpPr>
        <p:spPr>
          <a:xfrm>
            <a:off x="10379310" y="1389935"/>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Normalisée</a:t>
            </a:r>
            <a:endParaRPr/>
          </a:p>
        </p:txBody>
      </p:sp>
      <p:sp>
        <p:nvSpPr>
          <p:cNvPr id="326" name="Google Shape;326;p10"/>
          <p:cNvSpPr/>
          <p:nvPr/>
        </p:nvSpPr>
        <p:spPr>
          <a:xfrm>
            <a:off x="5760480" y="5039115"/>
            <a:ext cx="3354244" cy="1015663"/>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F-Beta Score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Variante du F1-Score -&gt; Donne plus de poids à la mesure de Rappel</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Minimiser les faux négatifs – Détection de fraude</a:t>
            </a:r>
            <a:endParaRPr/>
          </a:p>
        </p:txBody>
      </p:sp>
      <p:sp>
        <p:nvSpPr>
          <p:cNvPr id="327" name="Google Shape;327;p10"/>
          <p:cNvSpPr/>
          <p:nvPr/>
        </p:nvSpPr>
        <p:spPr>
          <a:xfrm>
            <a:off x="9264386" y="2750090"/>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4 / 300</a:t>
            </a:r>
            <a:endParaRPr/>
          </a:p>
        </p:txBody>
      </p:sp>
      <p:sp>
        <p:nvSpPr>
          <p:cNvPr id="328" name="Google Shape;328;p10"/>
          <p:cNvSpPr/>
          <p:nvPr/>
        </p:nvSpPr>
        <p:spPr>
          <a:xfrm>
            <a:off x="9264386" y="4068003"/>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0,98</a:t>
            </a:r>
            <a:endParaRPr/>
          </a:p>
        </p:txBody>
      </p:sp>
      <p:sp>
        <p:nvSpPr>
          <p:cNvPr id="329" name="Google Shape;329;p10"/>
          <p:cNvSpPr/>
          <p:nvPr/>
        </p:nvSpPr>
        <p:spPr>
          <a:xfrm>
            <a:off x="9281027" y="5385916"/>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0,9958</a:t>
            </a:r>
            <a:endParaRPr/>
          </a:p>
        </p:txBody>
      </p:sp>
      <p:sp>
        <p:nvSpPr>
          <p:cNvPr id="330" name="Google Shape;330;p10"/>
          <p:cNvSpPr/>
          <p:nvPr/>
        </p:nvSpPr>
        <p:spPr>
          <a:xfrm>
            <a:off x="11008524" y="2015982"/>
            <a:ext cx="858941"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0,9998</a:t>
            </a:r>
            <a:endParaRPr/>
          </a:p>
        </p:txBody>
      </p:sp>
      <p:sp>
        <p:nvSpPr>
          <p:cNvPr id="331" name="Google Shape;331;p10"/>
          <p:cNvSpPr/>
          <p:nvPr/>
        </p:nvSpPr>
        <p:spPr>
          <a:xfrm>
            <a:off x="11008524" y="2750090"/>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2 / 300</a:t>
            </a:r>
            <a:endParaRPr/>
          </a:p>
        </p:txBody>
      </p:sp>
      <p:sp>
        <p:nvSpPr>
          <p:cNvPr id="332" name="Google Shape;332;p10"/>
          <p:cNvSpPr/>
          <p:nvPr/>
        </p:nvSpPr>
        <p:spPr>
          <a:xfrm>
            <a:off x="11008524" y="4068003"/>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0,99</a:t>
            </a:r>
            <a:endParaRPr/>
          </a:p>
        </p:txBody>
      </p:sp>
      <p:sp>
        <p:nvSpPr>
          <p:cNvPr id="333" name="Google Shape;333;p10"/>
          <p:cNvSpPr/>
          <p:nvPr/>
        </p:nvSpPr>
        <p:spPr>
          <a:xfrm>
            <a:off x="11008524" y="5393057"/>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0,9979</a:t>
            </a:r>
            <a:endParaRPr/>
          </a:p>
        </p:txBody>
      </p:sp>
      <p:sp>
        <p:nvSpPr>
          <p:cNvPr id="334" name="Google Shape;334;p10"/>
          <p:cNvSpPr/>
          <p:nvPr/>
        </p:nvSpPr>
        <p:spPr>
          <a:xfrm>
            <a:off x="9277103" y="4375780"/>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0,99</a:t>
            </a:r>
            <a:endParaRPr/>
          </a:p>
        </p:txBody>
      </p:sp>
      <p:sp>
        <p:nvSpPr>
          <p:cNvPr id="335" name="Google Shape;335;p10"/>
          <p:cNvSpPr/>
          <p:nvPr/>
        </p:nvSpPr>
        <p:spPr>
          <a:xfrm>
            <a:off x="11008524" y="4379361"/>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0,99</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1"/>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341" name="Google Shape;341;p11"/>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342" name="Google Shape;342;p11"/>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343" name="Google Shape;343;p11"/>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11</a:t>
            </a:r>
            <a:endParaRPr/>
          </a:p>
        </p:txBody>
      </p:sp>
      <p:sp>
        <p:nvSpPr>
          <p:cNvPr id="344" name="Google Shape;344;p11"/>
          <p:cNvSpPr txBox="1"/>
          <p:nvPr/>
        </p:nvSpPr>
        <p:spPr>
          <a:xfrm>
            <a:off x="37592" y="226423"/>
            <a:ext cx="58166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KMeans</a:t>
            </a:r>
            <a:endParaRPr b="1" sz="2800">
              <a:solidFill>
                <a:schemeClr val="dk1"/>
              </a:solidFill>
              <a:latin typeface="Calibri"/>
              <a:ea typeface="Calibri"/>
              <a:cs typeface="Calibri"/>
              <a:sym typeface="Calibri"/>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Modèle de clustering classant dans 2 groupes (vrai/faux) selon la proximité des valeurs de dimension de chacun</a:t>
            </a:r>
            <a:endParaRPr sz="1600">
              <a:solidFill>
                <a:schemeClr val="dk1"/>
              </a:solidFill>
              <a:latin typeface="Quattrocento Sans"/>
              <a:ea typeface="Quattrocento Sans"/>
              <a:cs typeface="Quattrocento Sans"/>
              <a:sym typeface="Quattrocento Sans"/>
            </a:endParaRPr>
          </a:p>
        </p:txBody>
      </p:sp>
      <p:sp>
        <p:nvSpPr>
          <p:cNvPr id="345" name="Google Shape;345;p11"/>
          <p:cNvSpPr/>
          <p:nvPr/>
        </p:nvSpPr>
        <p:spPr>
          <a:xfrm>
            <a:off x="1227170" y="1941964"/>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1. Préparation des données</a:t>
            </a:r>
            <a:endParaRPr/>
          </a:p>
        </p:txBody>
      </p:sp>
      <p:sp>
        <p:nvSpPr>
          <p:cNvPr id="346" name="Google Shape;346;p11"/>
          <p:cNvSpPr/>
          <p:nvPr/>
        </p:nvSpPr>
        <p:spPr>
          <a:xfrm>
            <a:off x="1301442" y="3384793"/>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Division du jeu de données</a:t>
            </a:r>
            <a:endParaRPr/>
          </a:p>
        </p:txBody>
      </p:sp>
      <p:sp>
        <p:nvSpPr>
          <p:cNvPr id="347" name="Google Shape;347;p11"/>
          <p:cNvSpPr/>
          <p:nvPr/>
        </p:nvSpPr>
        <p:spPr>
          <a:xfrm>
            <a:off x="891032" y="4770871"/>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Choix de la donnée</a:t>
            </a:r>
            <a:endParaRPr/>
          </a:p>
        </p:txBody>
      </p:sp>
      <p:cxnSp>
        <p:nvCxnSpPr>
          <p:cNvPr id="348" name="Google Shape;348;p11"/>
          <p:cNvCxnSpPr/>
          <p:nvPr/>
        </p:nvCxnSpPr>
        <p:spPr>
          <a:xfrm>
            <a:off x="1650437" y="5078648"/>
            <a:ext cx="0" cy="425981"/>
          </a:xfrm>
          <a:prstGeom prst="straightConnector1">
            <a:avLst/>
          </a:prstGeom>
          <a:noFill/>
          <a:ln cap="flat" cmpd="sng" w="38100">
            <a:solidFill>
              <a:srgbClr val="181DA0"/>
            </a:solidFill>
            <a:prstDash val="solid"/>
            <a:miter lim="800000"/>
            <a:headEnd len="sm" w="sm" type="none"/>
            <a:tailEnd len="sm" w="sm" type="none"/>
          </a:ln>
        </p:spPr>
      </p:cxnSp>
      <p:cxnSp>
        <p:nvCxnSpPr>
          <p:cNvPr id="349" name="Google Shape;349;p11"/>
          <p:cNvCxnSpPr/>
          <p:nvPr/>
        </p:nvCxnSpPr>
        <p:spPr>
          <a:xfrm>
            <a:off x="1636149" y="5486372"/>
            <a:ext cx="601469" cy="0"/>
          </a:xfrm>
          <a:prstGeom prst="straightConnector1">
            <a:avLst/>
          </a:prstGeom>
          <a:noFill/>
          <a:ln cap="flat" cmpd="sng" w="38100">
            <a:solidFill>
              <a:srgbClr val="181DA0"/>
            </a:solidFill>
            <a:prstDash val="solid"/>
            <a:miter lim="800000"/>
            <a:headEnd len="sm" w="sm" type="none"/>
            <a:tailEnd len="med" w="med" type="triangle"/>
          </a:ln>
        </p:spPr>
      </p:cxnSp>
      <p:sp>
        <p:nvSpPr>
          <p:cNvPr id="350" name="Google Shape;350;p11"/>
          <p:cNvSpPr/>
          <p:nvPr/>
        </p:nvSpPr>
        <p:spPr>
          <a:xfrm>
            <a:off x="1936883" y="5347872"/>
            <a:ext cx="3233599" cy="27699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 brute – 1</a:t>
            </a:r>
            <a:r>
              <a:rPr baseline="30000" lang="fr-FR" sz="1800">
                <a:solidFill>
                  <a:schemeClr val="dk1"/>
                </a:solidFill>
                <a:latin typeface="Calibri"/>
                <a:ea typeface="Calibri"/>
                <a:cs typeface="Calibri"/>
                <a:sym typeface="Calibri"/>
              </a:rPr>
              <a:t>er</a:t>
            </a:r>
            <a:r>
              <a:rPr lang="fr-FR" sz="1800">
                <a:solidFill>
                  <a:schemeClr val="dk1"/>
                </a:solidFill>
                <a:latin typeface="Calibri"/>
                <a:ea typeface="Calibri"/>
                <a:cs typeface="Calibri"/>
                <a:sym typeface="Calibri"/>
              </a:rPr>
              <a:t> version</a:t>
            </a:r>
            <a:endParaRPr/>
          </a:p>
        </p:txBody>
      </p:sp>
      <p:sp>
        <p:nvSpPr>
          <p:cNvPr id="351" name="Google Shape;351;p11"/>
          <p:cNvSpPr/>
          <p:nvPr/>
        </p:nvSpPr>
        <p:spPr>
          <a:xfrm>
            <a:off x="1147330" y="2345304"/>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X</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Variables de dimension</a:t>
            </a:r>
            <a:endParaRPr/>
          </a:p>
        </p:txBody>
      </p:sp>
      <p:sp>
        <p:nvSpPr>
          <p:cNvPr id="352" name="Google Shape;352;p11"/>
          <p:cNvSpPr/>
          <p:nvPr/>
        </p:nvSpPr>
        <p:spPr>
          <a:xfrm>
            <a:off x="2846992" y="2345304"/>
            <a:ext cx="2065092" cy="58477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Y</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Is_genuine</a:t>
            </a:r>
            <a:endParaRPr sz="1800">
              <a:solidFill>
                <a:schemeClr val="dk1"/>
              </a:solidFill>
              <a:latin typeface="Calibri"/>
              <a:ea typeface="Calibri"/>
              <a:cs typeface="Calibri"/>
              <a:sym typeface="Calibri"/>
            </a:endParaRPr>
          </a:p>
        </p:txBody>
      </p:sp>
      <p:sp>
        <p:nvSpPr>
          <p:cNvPr id="353" name="Google Shape;353;p11"/>
          <p:cNvSpPr/>
          <p:nvPr/>
        </p:nvSpPr>
        <p:spPr>
          <a:xfrm>
            <a:off x="1189257" y="3788133"/>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80 %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d’entraînement</a:t>
            </a:r>
            <a:endParaRPr/>
          </a:p>
        </p:txBody>
      </p:sp>
      <p:sp>
        <p:nvSpPr>
          <p:cNvPr id="354" name="Google Shape;354;p11"/>
          <p:cNvSpPr/>
          <p:nvPr/>
        </p:nvSpPr>
        <p:spPr>
          <a:xfrm>
            <a:off x="2870232" y="3788133"/>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355" name="Google Shape;355;p11"/>
          <p:cNvSpPr/>
          <p:nvPr/>
        </p:nvSpPr>
        <p:spPr>
          <a:xfrm>
            <a:off x="1227169" y="5970908"/>
            <a:ext cx="4233827"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Entraînement du modèle – 2 Clusters</a:t>
            </a:r>
            <a:endParaRPr/>
          </a:p>
        </p:txBody>
      </p:sp>
      <p:sp>
        <p:nvSpPr>
          <p:cNvPr id="356" name="Google Shape;356;p11"/>
          <p:cNvSpPr/>
          <p:nvPr/>
        </p:nvSpPr>
        <p:spPr>
          <a:xfrm>
            <a:off x="5723467" y="150368"/>
            <a:ext cx="2756408" cy="92333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5. Prédiction et évaluation des performances</a:t>
            </a:r>
            <a:endParaRPr/>
          </a:p>
        </p:txBody>
      </p:sp>
      <p:cxnSp>
        <p:nvCxnSpPr>
          <p:cNvPr id="357" name="Google Shape;357;p11"/>
          <p:cNvCxnSpPr/>
          <p:nvPr/>
        </p:nvCxnSpPr>
        <p:spPr>
          <a:xfrm>
            <a:off x="5723467" y="226423"/>
            <a:ext cx="0" cy="1219260"/>
          </a:xfrm>
          <a:prstGeom prst="straightConnector1">
            <a:avLst/>
          </a:prstGeom>
          <a:noFill/>
          <a:ln cap="flat" cmpd="sng" w="28575">
            <a:solidFill>
              <a:srgbClr val="181DA0"/>
            </a:solidFill>
            <a:prstDash val="solid"/>
            <a:miter lim="800000"/>
            <a:headEnd len="sm" w="sm" type="none"/>
            <a:tailEnd len="sm" w="sm" type="none"/>
          </a:ln>
        </p:spPr>
      </p:cxnSp>
      <p:cxnSp>
        <p:nvCxnSpPr>
          <p:cNvPr id="358" name="Google Shape;358;p11"/>
          <p:cNvCxnSpPr/>
          <p:nvPr/>
        </p:nvCxnSpPr>
        <p:spPr>
          <a:xfrm rot="10800000">
            <a:off x="419607" y="1445683"/>
            <a:ext cx="5303860" cy="0"/>
          </a:xfrm>
          <a:prstGeom prst="straightConnector1">
            <a:avLst/>
          </a:prstGeom>
          <a:noFill/>
          <a:ln cap="flat" cmpd="sng" w="28575">
            <a:solidFill>
              <a:srgbClr val="181DA0"/>
            </a:solidFill>
            <a:prstDash val="solid"/>
            <a:miter lim="800000"/>
            <a:headEnd len="sm" w="sm" type="none"/>
            <a:tailEnd len="sm" w="sm" type="none"/>
          </a:ln>
        </p:spPr>
      </p:cxnSp>
      <p:sp>
        <p:nvSpPr>
          <p:cNvPr id="359" name="Google Shape;359;p11"/>
          <p:cNvSpPr/>
          <p:nvPr/>
        </p:nvSpPr>
        <p:spPr>
          <a:xfrm>
            <a:off x="9989457" y="205566"/>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360" name="Google Shape;360;p11"/>
          <p:cNvSpPr/>
          <p:nvPr/>
        </p:nvSpPr>
        <p:spPr>
          <a:xfrm>
            <a:off x="8314218" y="524349"/>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Prédiction</a:t>
            </a:r>
            <a:endParaRPr/>
          </a:p>
        </p:txBody>
      </p:sp>
      <p:sp>
        <p:nvSpPr>
          <p:cNvPr id="361" name="Google Shape;361;p11"/>
          <p:cNvSpPr/>
          <p:nvPr/>
        </p:nvSpPr>
        <p:spPr>
          <a:xfrm>
            <a:off x="9927657" y="524348"/>
            <a:ext cx="571010"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sp>
        <p:nvSpPr>
          <p:cNvPr id="362" name="Google Shape;362;p11"/>
          <p:cNvSpPr/>
          <p:nvPr/>
        </p:nvSpPr>
        <p:spPr>
          <a:xfrm>
            <a:off x="5641529" y="2186736"/>
            <a:ext cx="3354244" cy="461665"/>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Matrice de confusion</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Compte rendu sur l’état des prédictions</a:t>
            </a:r>
            <a:endParaRPr/>
          </a:p>
        </p:txBody>
      </p:sp>
      <p:sp>
        <p:nvSpPr>
          <p:cNvPr id="363" name="Google Shape;363;p11"/>
          <p:cNvSpPr/>
          <p:nvPr/>
        </p:nvSpPr>
        <p:spPr>
          <a:xfrm>
            <a:off x="5666970" y="3283173"/>
            <a:ext cx="3354244" cy="1569660"/>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F1-Score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Rappel -&gt; Mesure la qualité d’identification des vrais exemples positifs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Précision -&gt; Mesure la qualité des prédictions positives correctes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 et inversement</a:t>
            </a:r>
            <a:endParaRPr/>
          </a:p>
        </p:txBody>
      </p:sp>
      <p:cxnSp>
        <p:nvCxnSpPr>
          <p:cNvPr id="364" name="Google Shape;364;p11"/>
          <p:cNvCxnSpPr/>
          <p:nvPr/>
        </p:nvCxnSpPr>
        <p:spPr>
          <a:xfrm>
            <a:off x="10483522" y="1407756"/>
            <a:ext cx="15145" cy="4870929"/>
          </a:xfrm>
          <a:prstGeom prst="straightConnector1">
            <a:avLst/>
          </a:prstGeom>
          <a:noFill/>
          <a:ln cap="flat" cmpd="sng" w="28575">
            <a:solidFill>
              <a:srgbClr val="181DA0"/>
            </a:solidFill>
            <a:prstDash val="solid"/>
            <a:miter lim="800000"/>
            <a:headEnd len="sm" w="sm" type="none"/>
            <a:tailEnd len="sm" w="sm" type="none"/>
          </a:ln>
        </p:spPr>
      </p:cxnSp>
      <p:sp>
        <p:nvSpPr>
          <p:cNvPr id="365" name="Google Shape;365;p11"/>
          <p:cNvSpPr/>
          <p:nvPr/>
        </p:nvSpPr>
        <p:spPr>
          <a:xfrm>
            <a:off x="8601310" y="1389935"/>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Brute</a:t>
            </a:r>
            <a:endParaRPr/>
          </a:p>
        </p:txBody>
      </p:sp>
      <p:sp>
        <p:nvSpPr>
          <p:cNvPr id="366" name="Google Shape;366;p11"/>
          <p:cNvSpPr/>
          <p:nvPr/>
        </p:nvSpPr>
        <p:spPr>
          <a:xfrm>
            <a:off x="10379310" y="1389935"/>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Normalisée</a:t>
            </a:r>
            <a:endParaRPr/>
          </a:p>
        </p:txBody>
      </p:sp>
      <p:sp>
        <p:nvSpPr>
          <p:cNvPr id="367" name="Google Shape;367;p11"/>
          <p:cNvSpPr/>
          <p:nvPr/>
        </p:nvSpPr>
        <p:spPr>
          <a:xfrm>
            <a:off x="9264386" y="2345304"/>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6 / 300</a:t>
            </a:r>
            <a:endParaRPr/>
          </a:p>
        </p:txBody>
      </p:sp>
      <p:sp>
        <p:nvSpPr>
          <p:cNvPr id="368" name="Google Shape;368;p11"/>
          <p:cNvSpPr/>
          <p:nvPr/>
        </p:nvSpPr>
        <p:spPr>
          <a:xfrm>
            <a:off x="9295224" y="3911243"/>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FF0000"/>
                </a:solidFill>
                <a:latin typeface="Calibri"/>
                <a:ea typeface="Calibri"/>
                <a:cs typeface="Calibri"/>
                <a:sym typeface="Calibri"/>
              </a:rPr>
              <a:t>0,9842</a:t>
            </a:r>
            <a:endParaRPr/>
          </a:p>
        </p:txBody>
      </p:sp>
      <p:sp>
        <p:nvSpPr>
          <p:cNvPr id="369" name="Google Shape;369;p11"/>
          <p:cNvSpPr/>
          <p:nvPr/>
        </p:nvSpPr>
        <p:spPr>
          <a:xfrm>
            <a:off x="10978864" y="2345303"/>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3 / 300</a:t>
            </a:r>
            <a:endParaRPr/>
          </a:p>
        </p:txBody>
      </p:sp>
      <p:sp>
        <p:nvSpPr>
          <p:cNvPr id="370" name="Google Shape;370;p11"/>
          <p:cNvSpPr/>
          <p:nvPr/>
        </p:nvSpPr>
        <p:spPr>
          <a:xfrm>
            <a:off x="11008524" y="3911242"/>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rgbClr val="00B050"/>
                </a:solidFill>
                <a:latin typeface="Calibri"/>
                <a:ea typeface="Calibri"/>
                <a:cs typeface="Calibri"/>
                <a:sym typeface="Calibri"/>
              </a:rPr>
              <a:t>0,9919</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2"/>
          <p:cNvSpPr/>
          <p:nvPr/>
        </p:nvSpPr>
        <p:spPr>
          <a:xfrm>
            <a:off x="99614" y="1253066"/>
            <a:ext cx="2338785" cy="5098260"/>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76" name="Google Shape;376;p12"/>
          <p:cNvSpPr txBox="1"/>
          <p:nvPr/>
        </p:nvSpPr>
        <p:spPr>
          <a:xfrm>
            <a:off x="534269" y="1360954"/>
            <a:ext cx="146947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Bagging</a:t>
            </a:r>
            <a:endParaRPr/>
          </a:p>
        </p:txBody>
      </p:sp>
      <p:sp>
        <p:nvSpPr>
          <p:cNvPr id="377" name="Google Shape;377;p12"/>
          <p:cNvSpPr txBox="1"/>
          <p:nvPr/>
        </p:nvSpPr>
        <p:spPr>
          <a:xfrm>
            <a:off x="1189058" y="80681"/>
            <a:ext cx="5816600"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Apprentissage en ensemble</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Objectif d’améliorer les performances prédictives en combinant les prédictions de plusieurs modèles</a:t>
            </a:r>
            <a:endParaRPr sz="1600">
              <a:solidFill>
                <a:schemeClr val="dk1"/>
              </a:solidFill>
              <a:latin typeface="Quattrocento Sans"/>
              <a:ea typeface="Quattrocento Sans"/>
              <a:cs typeface="Quattrocento Sans"/>
              <a:sym typeface="Quattrocento Sans"/>
            </a:endParaRPr>
          </a:p>
        </p:txBody>
      </p:sp>
      <p:sp>
        <p:nvSpPr>
          <p:cNvPr id="378" name="Google Shape;378;p12"/>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379" name="Google Shape;379;p12"/>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380" name="Google Shape;380;p12"/>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381" name="Google Shape;381;p12"/>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12</a:t>
            </a:r>
            <a:endParaRPr/>
          </a:p>
        </p:txBody>
      </p:sp>
      <p:sp>
        <p:nvSpPr>
          <p:cNvPr id="382" name="Google Shape;382;p12"/>
          <p:cNvSpPr txBox="1"/>
          <p:nvPr/>
        </p:nvSpPr>
        <p:spPr>
          <a:xfrm>
            <a:off x="99613" y="4330822"/>
            <a:ext cx="2338786"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Bootstrap - Random Forest</a:t>
            </a:r>
            <a:endParaRPr/>
          </a:p>
        </p:txBody>
      </p:sp>
      <p:sp>
        <p:nvSpPr>
          <p:cNvPr id="383" name="Google Shape;383;p12"/>
          <p:cNvSpPr txBox="1"/>
          <p:nvPr/>
        </p:nvSpPr>
        <p:spPr>
          <a:xfrm>
            <a:off x="99613" y="5024890"/>
            <a:ext cx="2330463"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Combinaison des prédictions de chaque sous modèle</a:t>
            </a:r>
            <a:endParaRPr/>
          </a:p>
        </p:txBody>
      </p:sp>
      <p:cxnSp>
        <p:nvCxnSpPr>
          <p:cNvPr id="384" name="Google Shape;384;p12"/>
          <p:cNvCxnSpPr/>
          <p:nvPr/>
        </p:nvCxnSpPr>
        <p:spPr>
          <a:xfrm>
            <a:off x="812799" y="4987833"/>
            <a:ext cx="897467" cy="0"/>
          </a:xfrm>
          <a:prstGeom prst="straightConnector1">
            <a:avLst/>
          </a:prstGeom>
          <a:noFill/>
          <a:ln cap="flat" cmpd="sng" w="28575">
            <a:solidFill>
              <a:srgbClr val="717171"/>
            </a:solidFill>
            <a:prstDash val="solid"/>
            <a:miter lim="800000"/>
            <a:headEnd len="sm" w="sm" type="none"/>
            <a:tailEnd len="sm" w="sm" type="none"/>
          </a:ln>
        </p:spPr>
      </p:cxnSp>
      <p:sp>
        <p:nvSpPr>
          <p:cNvPr id="385" name="Google Shape;385;p12"/>
          <p:cNvSpPr/>
          <p:nvPr/>
        </p:nvSpPr>
        <p:spPr>
          <a:xfrm>
            <a:off x="2649195" y="1253065"/>
            <a:ext cx="2338785" cy="5098261"/>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86" name="Google Shape;386;p12"/>
          <p:cNvSpPr txBox="1"/>
          <p:nvPr/>
        </p:nvSpPr>
        <p:spPr>
          <a:xfrm>
            <a:off x="3083850" y="1360954"/>
            <a:ext cx="146947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Boosting</a:t>
            </a:r>
            <a:endParaRPr b="1" sz="2000">
              <a:solidFill>
                <a:schemeClr val="dk1"/>
              </a:solidFill>
              <a:latin typeface="Calibri"/>
              <a:ea typeface="Calibri"/>
              <a:cs typeface="Calibri"/>
              <a:sym typeface="Calibri"/>
            </a:endParaRPr>
          </a:p>
        </p:txBody>
      </p:sp>
      <p:sp>
        <p:nvSpPr>
          <p:cNvPr id="387" name="Google Shape;387;p12"/>
          <p:cNvSpPr txBox="1"/>
          <p:nvPr/>
        </p:nvSpPr>
        <p:spPr>
          <a:xfrm>
            <a:off x="2649194" y="4363168"/>
            <a:ext cx="233878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1 seul modèle</a:t>
            </a:r>
            <a:endParaRPr/>
          </a:p>
        </p:txBody>
      </p:sp>
      <p:sp>
        <p:nvSpPr>
          <p:cNvPr id="388" name="Google Shape;388;p12"/>
          <p:cNvSpPr txBox="1"/>
          <p:nvPr/>
        </p:nvSpPr>
        <p:spPr>
          <a:xfrm>
            <a:off x="2649194" y="5027888"/>
            <a:ext cx="2338785"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Itération et apprentissage des erreurs du modèle précédent</a:t>
            </a:r>
            <a:endParaRPr/>
          </a:p>
        </p:txBody>
      </p:sp>
      <p:cxnSp>
        <p:nvCxnSpPr>
          <p:cNvPr id="389" name="Google Shape;389;p12"/>
          <p:cNvCxnSpPr/>
          <p:nvPr/>
        </p:nvCxnSpPr>
        <p:spPr>
          <a:xfrm>
            <a:off x="3353913" y="4987833"/>
            <a:ext cx="897467" cy="0"/>
          </a:xfrm>
          <a:prstGeom prst="straightConnector1">
            <a:avLst/>
          </a:prstGeom>
          <a:noFill/>
          <a:ln cap="flat" cmpd="sng" w="28575">
            <a:solidFill>
              <a:srgbClr val="717171"/>
            </a:solidFill>
            <a:prstDash val="solid"/>
            <a:miter lim="800000"/>
            <a:headEnd len="sm" w="sm" type="none"/>
            <a:tailEnd len="sm" w="sm" type="none"/>
          </a:ln>
        </p:spPr>
      </p:cxnSp>
      <p:sp>
        <p:nvSpPr>
          <p:cNvPr id="390" name="Google Shape;390;p12"/>
          <p:cNvSpPr/>
          <p:nvPr/>
        </p:nvSpPr>
        <p:spPr>
          <a:xfrm>
            <a:off x="5265395" y="1253065"/>
            <a:ext cx="2338785" cy="5098261"/>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91" name="Google Shape;391;p12"/>
          <p:cNvSpPr txBox="1"/>
          <p:nvPr/>
        </p:nvSpPr>
        <p:spPr>
          <a:xfrm>
            <a:off x="5700050" y="1360954"/>
            <a:ext cx="1469474"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Stacking</a:t>
            </a:r>
            <a:endParaRPr b="1" sz="2000">
              <a:solidFill>
                <a:schemeClr val="dk1"/>
              </a:solidFill>
              <a:latin typeface="Calibri"/>
              <a:ea typeface="Calibri"/>
              <a:cs typeface="Calibri"/>
              <a:sym typeface="Calibri"/>
            </a:endParaRPr>
          </a:p>
        </p:txBody>
      </p:sp>
      <p:sp>
        <p:nvSpPr>
          <p:cNvPr id="392" name="Google Shape;392;p12"/>
          <p:cNvSpPr txBox="1"/>
          <p:nvPr/>
        </p:nvSpPr>
        <p:spPr>
          <a:xfrm>
            <a:off x="5265395" y="4330822"/>
            <a:ext cx="2338784"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Plusieurs modèles différents</a:t>
            </a:r>
            <a:endParaRPr/>
          </a:p>
        </p:txBody>
      </p:sp>
      <p:sp>
        <p:nvSpPr>
          <p:cNvPr id="393" name="Google Shape;393;p12"/>
          <p:cNvSpPr txBox="1"/>
          <p:nvPr/>
        </p:nvSpPr>
        <p:spPr>
          <a:xfrm>
            <a:off x="5265394" y="5027888"/>
            <a:ext cx="2338785"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Combinaison des prédictions de chaque modèle grâce à un modèle de méta classification</a:t>
            </a:r>
            <a:endParaRPr/>
          </a:p>
        </p:txBody>
      </p:sp>
      <p:cxnSp>
        <p:nvCxnSpPr>
          <p:cNvPr id="394" name="Google Shape;394;p12"/>
          <p:cNvCxnSpPr/>
          <p:nvPr/>
        </p:nvCxnSpPr>
        <p:spPr>
          <a:xfrm>
            <a:off x="5961647" y="4987833"/>
            <a:ext cx="897467" cy="0"/>
          </a:xfrm>
          <a:prstGeom prst="straightConnector1">
            <a:avLst/>
          </a:prstGeom>
          <a:noFill/>
          <a:ln cap="flat" cmpd="sng" w="28575">
            <a:solidFill>
              <a:srgbClr val="717171"/>
            </a:solidFill>
            <a:prstDash val="solid"/>
            <a:miter lim="800000"/>
            <a:headEnd len="sm" w="sm" type="none"/>
            <a:tailEnd len="sm" w="sm" type="none"/>
          </a:ln>
        </p:spPr>
      </p:cxnSp>
      <p:sp>
        <p:nvSpPr>
          <p:cNvPr id="395" name="Google Shape;395;p12"/>
          <p:cNvSpPr txBox="1"/>
          <p:nvPr/>
        </p:nvSpPr>
        <p:spPr>
          <a:xfrm>
            <a:off x="7899400" y="116799"/>
            <a:ext cx="4155149" cy="101566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Validation croisée</a:t>
            </a:r>
            <a:endParaRPr/>
          </a:p>
          <a:p>
            <a:pPr indent="0" lvl="0" marL="0" marR="0" rtl="0" algn="ctr">
              <a:spcBef>
                <a:spcPts val="0"/>
              </a:spcBef>
              <a:spcAft>
                <a:spcPts val="0"/>
              </a:spcAft>
              <a:buNone/>
            </a:pPr>
            <a:r>
              <a:rPr lang="fr-FR" sz="1600">
                <a:solidFill>
                  <a:schemeClr val="dk1"/>
                </a:solidFill>
                <a:latin typeface="Calibri"/>
                <a:ea typeface="Calibri"/>
                <a:cs typeface="Calibri"/>
                <a:sym typeface="Calibri"/>
              </a:rPr>
              <a:t>Evaluation de la performance d’un modèle et détection des meilleurs paramètres</a:t>
            </a:r>
            <a:endParaRPr sz="1600">
              <a:solidFill>
                <a:schemeClr val="dk1"/>
              </a:solidFill>
              <a:latin typeface="Quattrocento Sans"/>
              <a:ea typeface="Quattrocento Sans"/>
              <a:cs typeface="Quattrocento Sans"/>
              <a:sym typeface="Quattrocento Sans"/>
            </a:endParaRPr>
          </a:p>
        </p:txBody>
      </p:sp>
      <p:sp>
        <p:nvSpPr>
          <p:cNvPr id="396" name="Google Shape;396;p12"/>
          <p:cNvSpPr/>
          <p:nvPr/>
        </p:nvSpPr>
        <p:spPr>
          <a:xfrm>
            <a:off x="8161867" y="1253066"/>
            <a:ext cx="3759200" cy="5098260"/>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397" name="Google Shape;397;p12"/>
          <p:cNvSpPr txBox="1"/>
          <p:nvPr/>
        </p:nvSpPr>
        <p:spPr>
          <a:xfrm>
            <a:off x="8161866" y="4916226"/>
            <a:ext cx="375920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Choix des meilleurs paramètres -&gt; Randomizer Search CV</a:t>
            </a:r>
            <a:endParaRPr/>
          </a:p>
        </p:txBody>
      </p:sp>
      <p:sp>
        <p:nvSpPr>
          <p:cNvPr id="398" name="Google Shape;398;p12"/>
          <p:cNvSpPr txBox="1"/>
          <p:nvPr/>
        </p:nvSpPr>
        <p:spPr>
          <a:xfrm>
            <a:off x="8161866" y="5613292"/>
            <a:ext cx="375920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1600">
                <a:solidFill>
                  <a:schemeClr val="dk1"/>
                </a:solidFill>
                <a:latin typeface="Calibri"/>
                <a:ea typeface="Calibri"/>
                <a:cs typeface="Calibri"/>
                <a:sym typeface="Calibri"/>
              </a:rPr>
              <a:t>Analyse des performances du modèle -&gt; F-Beta Score</a:t>
            </a:r>
            <a:endParaRPr/>
          </a:p>
        </p:txBody>
      </p:sp>
      <p:cxnSp>
        <p:nvCxnSpPr>
          <p:cNvPr id="399" name="Google Shape;399;p12"/>
          <p:cNvCxnSpPr/>
          <p:nvPr/>
        </p:nvCxnSpPr>
        <p:spPr>
          <a:xfrm>
            <a:off x="9568457" y="5573237"/>
            <a:ext cx="897467" cy="0"/>
          </a:xfrm>
          <a:prstGeom prst="straightConnector1">
            <a:avLst/>
          </a:prstGeom>
          <a:noFill/>
          <a:ln cap="flat" cmpd="sng" w="28575">
            <a:solidFill>
              <a:srgbClr val="717171"/>
            </a:solidFill>
            <a:prstDash val="solid"/>
            <a:miter lim="800000"/>
            <a:headEnd len="sm" w="sm" type="none"/>
            <a:tailEnd len="sm" w="sm" type="none"/>
          </a:ln>
        </p:spPr>
      </p:cxnSp>
      <p:pic>
        <p:nvPicPr>
          <p:cNvPr id="400" name="Google Shape;400;p12"/>
          <p:cNvPicPr preferRelativeResize="0"/>
          <p:nvPr/>
        </p:nvPicPr>
        <p:blipFill rotWithShape="1">
          <a:blip r:embed="rId4">
            <a:alphaModFix/>
          </a:blip>
          <a:srcRect b="33944" l="0" r="49565" t="0"/>
          <a:stretch/>
        </p:blipFill>
        <p:spPr>
          <a:xfrm>
            <a:off x="157645" y="1958149"/>
            <a:ext cx="2162276" cy="1887998"/>
          </a:xfrm>
          <a:prstGeom prst="rect">
            <a:avLst/>
          </a:prstGeom>
          <a:noFill/>
          <a:ln>
            <a:noFill/>
          </a:ln>
        </p:spPr>
      </p:pic>
      <p:pic>
        <p:nvPicPr>
          <p:cNvPr id="401" name="Google Shape;401;p12"/>
          <p:cNvPicPr preferRelativeResize="0"/>
          <p:nvPr/>
        </p:nvPicPr>
        <p:blipFill rotWithShape="1">
          <a:blip r:embed="rId5">
            <a:alphaModFix/>
          </a:blip>
          <a:srcRect b="11775" l="15243" r="64761" t="5485"/>
          <a:stretch/>
        </p:blipFill>
        <p:spPr>
          <a:xfrm>
            <a:off x="3407695" y="1761064"/>
            <a:ext cx="908638" cy="2506573"/>
          </a:xfrm>
          <a:prstGeom prst="rect">
            <a:avLst/>
          </a:prstGeom>
          <a:noFill/>
          <a:ln>
            <a:noFill/>
          </a:ln>
        </p:spPr>
      </p:pic>
      <p:pic>
        <p:nvPicPr>
          <p:cNvPr id="402" name="Google Shape;402;p12"/>
          <p:cNvPicPr preferRelativeResize="0"/>
          <p:nvPr/>
        </p:nvPicPr>
        <p:blipFill rotWithShape="1">
          <a:blip r:embed="rId6">
            <a:alphaModFix/>
          </a:blip>
          <a:srcRect b="50000" l="0" r="50000" t="6135"/>
          <a:stretch/>
        </p:blipFill>
        <p:spPr>
          <a:xfrm>
            <a:off x="5328759" y="2135622"/>
            <a:ext cx="2211405" cy="1293378"/>
          </a:xfrm>
          <a:prstGeom prst="rect">
            <a:avLst/>
          </a:prstGeom>
          <a:noFill/>
          <a:ln>
            <a:noFill/>
          </a:ln>
        </p:spPr>
      </p:pic>
      <p:pic>
        <p:nvPicPr>
          <p:cNvPr id="403" name="Google Shape;403;p12"/>
          <p:cNvPicPr preferRelativeResize="0"/>
          <p:nvPr/>
        </p:nvPicPr>
        <p:blipFill rotWithShape="1">
          <a:blip r:embed="rId7">
            <a:alphaModFix/>
          </a:blip>
          <a:srcRect b="7529" l="6623" r="47728" t="0"/>
          <a:stretch/>
        </p:blipFill>
        <p:spPr>
          <a:xfrm>
            <a:off x="8914219" y="1389376"/>
            <a:ext cx="2558114" cy="34546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13"/>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409" name="Google Shape;409;p13"/>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410" name="Google Shape;410;p13"/>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411" name="Google Shape;411;p13"/>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13</a:t>
            </a:r>
            <a:endParaRPr/>
          </a:p>
        </p:txBody>
      </p:sp>
      <p:sp>
        <p:nvSpPr>
          <p:cNvPr id="412" name="Google Shape;412;p13"/>
          <p:cNvSpPr txBox="1"/>
          <p:nvPr/>
        </p:nvSpPr>
        <p:spPr>
          <a:xfrm>
            <a:off x="-224875" y="224868"/>
            <a:ext cx="58166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Bagging – Random Forest</a:t>
            </a:r>
            <a:endParaRPr/>
          </a:p>
        </p:txBody>
      </p:sp>
      <p:sp>
        <p:nvSpPr>
          <p:cNvPr id="413" name="Google Shape;413;p13"/>
          <p:cNvSpPr/>
          <p:nvPr/>
        </p:nvSpPr>
        <p:spPr>
          <a:xfrm>
            <a:off x="88036" y="126528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1. Préparation des données</a:t>
            </a:r>
            <a:endParaRPr/>
          </a:p>
        </p:txBody>
      </p:sp>
      <p:sp>
        <p:nvSpPr>
          <p:cNvPr id="414" name="Google Shape;414;p13"/>
          <p:cNvSpPr/>
          <p:nvPr/>
        </p:nvSpPr>
        <p:spPr>
          <a:xfrm>
            <a:off x="149777" y="2942362"/>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Division du jeu de données</a:t>
            </a:r>
            <a:endParaRPr/>
          </a:p>
        </p:txBody>
      </p:sp>
      <p:sp>
        <p:nvSpPr>
          <p:cNvPr id="415" name="Google Shape;415;p13"/>
          <p:cNvSpPr/>
          <p:nvPr/>
        </p:nvSpPr>
        <p:spPr>
          <a:xfrm>
            <a:off x="-313878" y="4579160"/>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Choix de la donnée</a:t>
            </a:r>
            <a:endParaRPr/>
          </a:p>
        </p:txBody>
      </p:sp>
      <p:cxnSp>
        <p:nvCxnSpPr>
          <p:cNvPr id="416" name="Google Shape;416;p13"/>
          <p:cNvCxnSpPr/>
          <p:nvPr/>
        </p:nvCxnSpPr>
        <p:spPr>
          <a:xfrm>
            <a:off x="445527" y="4886937"/>
            <a:ext cx="0" cy="425981"/>
          </a:xfrm>
          <a:prstGeom prst="straightConnector1">
            <a:avLst/>
          </a:prstGeom>
          <a:noFill/>
          <a:ln cap="flat" cmpd="sng" w="38100">
            <a:solidFill>
              <a:srgbClr val="181DA0"/>
            </a:solidFill>
            <a:prstDash val="solid"/>
            <a:miter lim="800000"/>
            <a:headEnd len="sm" w="sm" type="none"/>
            <a:tailEnd len="sm" w="sm" type="none"/>
          </a:ln>
        </p:spPr>
      </p:cxnSp>
      <p:cxnSp>
        <p:nvCxnSpPr>
          <p:cNvPr id="417" name="Google Shape;417;p13"/>
          <p:cNvCxnSpPr/>
          <p:nvPr/>
        </p:nvCxnSpPr>
        <p:spPr>
          <a:xfrm>
            <a:off x="431239" y="5294661"/>
            <a:ext cx="601469" cy="0"/>
          </a:xfrm>
          <a:prstGeom prst="straightConnector1">
            <a:avLst/>
          </a:prstGeom>
          <a:noFill/>
          <a:ln cap="flat" cmpd="sng" w="38100">
            <a:solidFill>
              <a:srgbClr val="181DA0"/>
            </a:solidFill>
            <a:prstDash val="solid"/>
            <a:miter lim="800000"/>
            <a:headEnd len="sm" w="sm" type="none"/>
            <a:tailEnd len="med" w="med" type="triangle"/>
          </a:ln>
        </p:spPr>
      </p:cxnSp>
      <p:sp>
        <p:nvSpPr>
          <p:cNvPr id="418" name="Google Shape;418;p13"/>
          <p:cNvSpPr/>
          <p:nvPr/>
        </p:nvSpPr>
        <p:spPr>
          <a:xfrm>
            <a:off x="1012844" y="5128013"/>
            <a:ext cx="2202390" cy="83099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 brute – Chaque variable traitée indépendamment</a:t>
            </a:r>
            <a:endParaRPr/>
          </a:p>
        </p:txBody>
      </p:sp>
      <p:sp>
        <p:nvSpPr>
          <p:cNvPr id="419" name="Google Shape;419;p13"/>
          <p:cNvSpPr/>
          <p:nvPr/>
        </p:nvSpPr>
        <p:spPr>
          <a:xfrm>
            <a:off x="8196" y="1668625"/>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X</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Variables de dimension</a:t>
            </a:r>
            <a:endParaRPr/>
          </a:p>
        </p:txBody>
      </p:sp>
      <p:sp>
        <p:nvSpPr>
          <p:cNvPr id="420" name="Google Shape;420;p13"/>
          <p:cNvSpPr/>
          <p:nvPr/>
        </p:nvSpPr>
        <p:spPr>
          <a:xfrm>
            <a:off x="1707858" y="1668625"/>
            <a:ext cx="2065092" cy="58477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Y</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Is_genuine</a:t>
            </a:r>
            <a:endParaRPr sz="1800">
              <a:solidFill>
                <a:schemeClr val="dk1"/>
              </a:solidFill>
              <a:latin typeface="Calibri"/>
              <a:ea typeface="Calibri"/>
              <a:cs typeface="Calibri"/>
              <a:sym typeface="Calibri"/>
            </a:endParaRPr>
          </a:p>
        </p:txBody>
      </p:sp>
      <p:sp>
        <p:nvSpPr>
          <p:cNvPr id="421" name="Google Shape;421;p13"/>
          <p:cNvSpPr/>
          <p:nvPr/>
        </p:nvSpPr>
        <p:spPr>
          <a:xfrm>
            <a:off x="37592" y="3345702"/>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80 %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d’entraînement</a:t>
            </a:r>
            <a:endParaRPr/>
          </a:p>
        </p:txBody>
      </p:sp>
      <p:sp>
        <p:nvSpPr>
          <p:cNvPr id="422" name="Google Shape;422;p13"/>
          <p:cNvSpPr/>
          <p:nvPr/>
        </p:nvSpPr>
        <p:spPr>
          <a:xfrm>
            <a:off x="1718567" y="3345702"/>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423" name="Google Shape;423;p13"/>
          <p:cNvSpPr/>
          <p:nvPr/>
        </p:nvSpPr>
        <p:spPr>
          <a:xfrm>
            <a:off x="3921323" y="4579160"/>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5. Entraînement du modèle</a:t>
            </a:r>
            <a:endParaRPr/>
          </a:p>
        </p:txBody>
      </p:sp>
      <p:sp>
        <p:nvSpPr>
          <p:cNvPr id="424" name="Google Shape;424;p13"/>
          <p:cNvSpPr/>
          <p:nvPr/>
        </p:nvSpPr>
        <p:spPr>
          <a:xfrm>
            <a:off x="7631330" y="372823"/>
            <a:ext cx="4077537"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6. Prédiction et évaluation des performances</a:t>
            </a:r>
            <a:endParaRPr/>
          </a:p>
        </p:txBody>
      </p:sp>
      <p:cxnSp>
        <p:nvCxnSpPr>
          <p:cNvPr id="425" name="Google Shape;425;p13"/>
          <p:cNvCxnSpPr/>
          <p:nvPr/>
        </p:nvCxnSpPr>
        <p:spPr>
          <a:xfrm>
            <a:off x="4902200" y="220429"/>
            <a:ext cx="0" cy="685861"/>
          </a:xfrm>
          <a:prstGeom prst="straightConnector1">
            <a:avLst/>
          </a:prstGeom>
          <a:noFill/>
          <a:ln cap="flat" cmpd="sng" w="28575">
            <a:solidFill>
              <a:srgbClr val="181DA0"/>
            </a:solidFill>
            <a:prstDash val="solid"/>
            <a:miter lim="800000"/>
            <a:headEnd len="sm" w="sm" type="none"/>
            <a:tailEnd len="sm" w="sm" type="none"/>
          </a:ln>
        </p:spPr>
      </p:cxnSp>
      <p:cxnSp>
        <p:nvCxnSpPr>
          <p:cNvPr id="426" name="Google Shape;426;p13"/>
          <p:cNvCxnSpPr/>
          <p:nvPr/>
        </p:nvCxnSpPr>
        <p:spPr>
          <a:xfrm rot="10800000">
            <a:off x="567267" y="906290"/>
            <a:ext cx="4334933" cy="4439"/>
          </a:xfrm>
          <a:prstGeom prst="straightConnector1">
            <a:avLst/>
          </a:prstGeom>
          <a:noFill/>
          <a:ln cap="flat" cmpd="sng" w="28575">
            <a:solidFill>
              <a:srgbClr val="181DA0"/>
            </a:solidFill>
            <a:prstDash val="solid"/>
            <a:miter lim="800000"/>
            <a:headEnd len="sm" w="sm" type="none"/>
            <a:tailEnd len="sm" w="sm" type="none"/>
          </a:ln>
        </p:spPr>
      </p:cxnSp>
      <p:sp>
        <p:nvSpPr>
          <p:cNvPr id="427" name="Google Shape;427;p13"/>
          <p:cNvSpPr/>
          <p:nvPr/>
        </p:nvSpPr>
        <p:spPr>
          <a:xfrm>
            <a:off x="9712543" y="1148979"/>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428" name="Google Shape;428;p13"/>
          <p:cNvSpPr/>
          <p:nvPr/>
        </p:nvSpPr>
        <p:spPr>
          <a:xfrm>
            <a:off x="8037304" y="1467762"/>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Prédiction</a:t>
            </a:r>
            <a:endParaRPr/>
          </a:p>
        </p:txBody>
      </p:sp>
      <p:sp>
        <p:nvSpPr>
          <p:cNvPr id="429" name="Google Shape;429;p13"/>
          <p:cNvSpPr/>
          <p:nvPr/>
        </p:nvSpPr>
        <p:spPr>
          <a:xfrm>
            <a:off x="9650743" y="1467761"/>
            <a:ext cx="571010"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sp>
        <p:nvSpPr>
          <p:cNvPr id="430" name="Google Shape;430;p13"/>
          <p:cNvSpPr/>
          <p:nvPr/>
        </p:nvSpPr>
        <p:spPr>
          <a:xfrm>
            <a:off x="7535167" y="2299566"/>
            <a:ext cx="3354244" cy="461665"/>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Matrice de confusion</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Compte rendu sur l’état des prédictions</a:t>
            </a:r>
            <a:endParaRPr/>
          </a:p>
        </p:txBody>
      </p:sp>
      <p:sp>
        <p:nvSpPr>
          <p:cNvPr id="431" name="Google Shape;431;p13"/>
          <p:cNvSpPr/>
          <p:nvPr/>
        </p:nvSpPr>
        <p:spPr>
          <a:xfrm>
            <a:off x="7537820" y="2947512"/>
            <a:ext cx="3354244" cy="1569660"/>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F1-Score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Rappel -&gt; Mesure la qualité d’identification des vrais exemples positifs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Précision -&gt; Mesure la qualité des prédictions positives correctes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 et inversement</a:t>
            </a:r>
            <a:endParaRPr/>
          </a:p>
        </p:txBody>
      </p:sp>
      <p:sp>
        <p:nvSpPr>
          <p:cNvPr id="432" name="Google Shape;432;p13"/>
          <p:cNvSpPr/>
          <p:nvPr/>
        </p:nvSpPr>
        <p:spPr>
          <a:xfrm>
            <a:off x="7631330" y="4564955"/>
            <a:ext cx="3354244" cy="1292662"/>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F-Beta Score – Validation croisée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Variante du F1-Score -&gt; Donne plus de poids à la mesure de Rappel</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Minimiser les faux négatifs – Détection de fraude</a:t>
            </a:r>
            <a:endParaRPr/>
          </a:p>
        </p:txBody>
      </p:sp>
      <p:sp>
        <p:nvSpPr>
          <p:cNvPr id="433" name="Google Shape;433;p13"/>
          <p:cNvSpPr/>
          <p:nvPr/>
        </p:nvSpPr>
        <p:spPr>
          <a:xfrm>
            <a:off x="11135236" y="2414429"/>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 300</a:t>
            </a:r>
            <a:endParaRPr/>
          </a:p>
        </p:txBody>
      </p:sp>
      <p:sp>
        <p:nvSpPr>
          <p:cNvPr id="434" name="Google Shape;434;p13"/>
          <p:cNvSpPr/>
          <p:nvPr/>
        </p:nvSpPr>
        <p:spPr>
          <a:xfrm>
            <a:off x="11135236" y="3732342"/>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0,9947</a:t>
            </a:r>
            <a:endParaRPr/>
          </a:p>
        </p:txBody>
      </p:sp>
      <p:sp>
        <p:nvSpPr>
          <p:cNvPr id="435" name="Google Shape;435;p13"/>
          <p:cNvSpPr/>
          <p:nvPr/>
        </p:nvSpPr>
        <p:spPr>
          <a:xfrm>
            <a:off x="11151877" y="5050255"/>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0,9943</a:t>
            </a:r>
            <a:endParaRPr/>
          </a:p>
        </p:txBody>
      </p:sp>
      <p:sp>
        <p:nvSpPr>
          <p:cNvPr id="436" name="Google Shape;436;p13"/>
          <p:cNvSpPr/>
          <p:nvPr/>
        </p:nvSpPr>
        <p:spPr>
          <a:xfrm>
            <a:off x="3921324" y="1259439"/>
            <a:ext cx="32335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Validation croisée – Choix des paramètres</a:t>
            </a:r>
            <a:endParaRPr/>
          </a:p>
        </p:txBody>
      </p:sp>
      <p:sp>
        <p:nvSpPr>
          <p:cNvPr id="437" name="Google Shape;437;p13"/>
          <p:cNvSpPr/>
          <p:nvPr/>
        </p:nvSpPr>
        <p:spPr>
          <a:xfrm>
            <a:off x="4179208" y="2082967"/>
            <a:ext cx="2841842" cy="2110693"/>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438" name="Google Shape;438;p13"/>
          <p:cNvSpPr/>
          <p:nvPr/>
        </p:nvSpPr>
        <p:spPr>
          <a:xfrm>
            <a:off x="4284081" y="2222146"/>
            <a:ext cx="2658858" cy="1846659"/>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min_sample_split -&gt; 2</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min_sample_leaf -&gt; 1</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max_depth -&gt; 20</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criterion -&gt; Gini</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class_weight -&gt; None</a:t>
            </a:r>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bootstrap -&gt; True</a:t>
            </a:r>
            <a:endParaRPr sz="20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4"/>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444" name="Google Shape;444;p14"/>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445" name="Google Shape;445;p14"/>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446" name="Google Shape;446;p14"/>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14</a:t>
            </a:r>
            <a:endParaRPr/>
          </a:p>
        </p:txBody>
      </p:sp>
      <p:sp>
        <p:nvSpPr>
          <p:cNvPr id="447" name="Google Shape;447;p14"/>
          <p:cNvSpPr txBox="1"/>
          <p:nvPr/>
        </p:nvSpPr>
        <p:spPr>
          <a:xfrm>
            <a:off x="-224875" y="224868"/>
            <a:ext cx="58166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Boosting – XGBoost</a:t>
            </a:r>
            <a:endParaRPr b="1" sz="2800">
              <a:solidFill>
                <a:schemeClr val="dk1"/>
              </a:solidFill>
              <a:latin typeface="Calibri"/>
              <a:ea typeface="Calibri"/>
              <a:cs typeface="Calibri"/>
              <a:sym typeface="Calibri"/>
            </a:endParaRPr>
          </a:p>
        </p:txBody>
      </p:sp>
      <p:sp>
        <p:nvSpPr>
          <p:cNvPr id="448" name="Google Shape;448;p14"/>
          <p:cNvSpPr/>
          <p:nvPr/>
        </p:nvSpPr>
        <p:spPr>
          <a:xfrm>
            <a:off x="88036" y="126528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1. Préparation des données</a:t>
            </a:r>
            <a:endParaRPr/>
          </a:p>
        </p:txBody>
      </p:sp>
      <p:sp>
        <p:nvSpPr>
          <p:cNvPr id="449" name="Google Shape;449;p14"/>
          <p:cNvSpPr/>
          <p:nvPr/>
        </p:nvSpPr>
        <p:spPr>
          <a:xfrm>
            <a:off x="149777" y="2942362"/>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Division du jeu de données</a:t>
            </a:r>
            <a:endParaRPr/>
          </a:p>
        </p:txBody>
      </p:sp>
      <p:sp>
        <p:nvSpPr>
          <p:cNvPr id="450" name="Google Shape;450;p14"/>
          <p:cNvSpPr/>
          <p:nvPr/>
        </p:nvSpPr>
        <p:spPr>
          <a:xfrm>
            <a:off x="-313877" y="465361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Choix de la donnée</a:t>
            </a:r>
            <a:endParaRPr/>
          </a:p>
        </p:txBody>
      </p:sp>
      <p:cxnSp>
        <p:nvCxnSpPr>
          <p:cNvPr id="451" name="Google Shape;451;p14"/>
          <p:cNvCxnSpPr/>
          <p:nvPr/>
        </p:nvCxnSpPr>
        <p:spPr>
          <a:xfrm>
            <a:off x="445528" y="4961392"/>
            <a:ext cx="0" cy="425981"/>
          </a:xfrm>
          <a:prstGeom prst="straightConnector1">
            <a:avLst/>
          </a:prstGeom>
          <a:noFill/>
          <a:ln cap="flat" cmpd="sng" w="38100">
            <a:solidFill>
              <a:srgbClr val="181DA0"/>
            </a:solidFill>
            <a:prstDash val="solid"/>
            <a:miter lim="800000"/>
            <a:headEnd len="sm" w="sm" type="none"/>
            <a:tailEnd len="sm" w="sm" type="none"/>
          </a:ln>
        </p:spPr>
      </p:cxnSp>
      <p:cxnSp>
        <p:nvCxnSpPr>
          <p:cNvPr id="452" name="Google Shape;452;p14"/>
          <p:cNvCxnSpPr/>
          <p:nvPr/>
        </p:nvCxnSpPr>
        <p:spPr>
          <a:xfrm>
            <a:off x="431240" y="5369116"/>
            <a:ext cx="601469" cy="0"/>
          </a:xfrm>
          <a:prstGeom prst="straightConnector1">
            <a:avLst/>
          </a:prstGeom>
          <a:noFill/>
          <a:ln cap="flat" cmpd="sng" w="38100">
            <a:solidFill>
              <a:srgbClr val="181DA0"/>
            </a:solidFill>
            <a:prstDash val="solid"/>
            <a:miter lim="800000"/>
            <a:headEnd len="sm" w="sm" type="none"/>
            <a:tailEnd len="med" w="med" type="triangle"/>
          </a:ln>
        </p:spPr>
      </p:cxnSp>
      <p:sp>
        <p:nvSpPr>
          <p:cNvPr id="453" name="Google Shape;453;p14"/>
          <p:cNvSpPr/>
          <p:nvPr/>
        </p:nvSpPr>
        <p:spPr>
          <a:xfrm>
            <a:off x="1012845" y="5202468"/>
            <a:ext cx="2202390" cy="83099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 brute – Chaque variable traitée indépendamment</a:t>
            </a:r>
            <a:endParaRPr/>
          </a:p>
        </p:txBody>
      </p:sp>
      <p:sp>
        <p:nvSpPr>
          <p:cNvPr id="454" name="Google Shape;454;p14"/>
          <p:cNvSpPr/>
          <p:nvPr/>
        </p:nvSpPr>
        <p:spPr>
          <a:xfrm>
            <a:off x="8196" y="1668625"/>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X</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Variables de dimension</a:t>
            </a:r>
            <a:endParaRPr/>
          </a:p>
        </p:txBody>
      </p:sp>
      <p:sp>
        <p:nvSpPr>
          <p:cNvPr id="455" name="Google Shape;455;p14"/>
          <p:cNvSpPr/>
          <p:nvPr/>
        </p:nvSpPr>
        <p:spPr>
          <a:xfrm>
            <a:off x="1707858" y="1668625"/>
            <a:ext cx="2065092" cy="58477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Y</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Is_genuine</a:t>
            </a:r>
            <a:endParaRPr sz="1800">
              <a:solidFill>
                <a:schemeClr val="dk1"/>
              </a:solidFill>
              <a:latin typeface="Calibri"/>
              <a:ea typeface="Calibri"/>
              <a:cs typeface="Calibri"/>
              <a:sym typeface="Calibri"/>
            </a:endParaRPr>
          </a:p>
        </p:txBody>
      </p:sp>
      <p:sp>
        <p:nvSpPr>
          <p:cNvPr id="456" name="Google Shape;456;p14"/>
          <p:cNvSpPr/>
          <p:nvPr/>
        </p:nvSpPr>
        <p:spPr>
          <a:xfrm>
            <a:off x="37592" y="3345702"/>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80 %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d’entraînement</a:t>
            </a:r>
            <a:endParaRPr/>
          </a:p>
        </p:txBody>
      </p:sp>
      <p:sp>
        <p:nvSpPr>
          <p:cNvPr id="457" name="Google Shape;457;p14"/>
          <p:cNvSpPr/>
          <p:nvPr/>
        </p:nvSpPr>
        <p:spPr>
          <a:xfrm>
            <a:off x="1718567" y="3345702"/>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458" name="Google Shape;458;p14"/>
          <p:cNvSpPr/>
          <p:nvPr/>
        </p:nvSpPr>
        <p:spPr>
          <a:xfrm>
            <a:off x="3921324" y="465361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5. Entraînement du modèle</a:t>
            </a:r>
            <a:endParaRPr/>
          </a:p>
        </p:txBody>
      </p:sp>
      <p:sp>
        <p:nvSpPr>
          <p:cNvPr id="459" name="Google Shape;459;p14"/>
          <p:cNvSpPr/>
          <p:nvPr/>
        </p:nvSpPr>
        <p:spPr>
          <a:xfrm>
            <a:off x="7631330" y="372823"/>
            <a:ext cx="4077537"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6. Prédiction et évaluation des performances</a:t>
            </a:r>
            <a:endParaRPr/>
          </a:p>
        </p:txBody>
      </p:sp>
      <p:cxnSp>
        <p:nvCxnSpPr>
          <p:cNvPr id="460" name="Google Shape;460;p14"/>
          <p:cNvCxnSpPr/>
          <p:nvPr/>
        </p:nvCxnSpPr>
        <p:spPr>
          <a:xfrm>
            <a:off x="4902200" y="220429"/>
            <a:ext cx="0" cy="685861"/>
          </a:xfrm>
          <a:prstGeom prst="straightConnector1">
            <a:avLst/>
          </a:prstGeom>
          <a:noFill/>
          <a:ln cap="flat" cmpd="sng" w="28575">
            <a:solidFill>
              <a:srgbClr val="181DA0"/>
            </a:solidFill>
            <a:prstDash val="solid"/>
            <a:miter lim="800000"/>
            <a:headEnd len="sm" w="sm" type="none"/>
            <a:tailEnd len="sm" w="sm" type="none"/>
          </a:ln>
        </p:spPr>
      </p:cxnSp>
      <p:cxnSp>
        <p:nvCxnSpPr>
          <p:cNvPr id="461" name="Google Shape;461;p14"/>
          <p:cNvCxnSpPr/>
          <p:nvPr/>
        </p:nvCxnSpPr>
        <p:spPr>
          <a:xfrm rot="10800000">
            <a:off x="567267" y="906290"/>
            <a:ext cx="4334933" cy="4439"/>
          </a:xfrm>
          <a:prstGeom prst="straightConnector1">
            <a:avLst/>
          </a:prstGeom>
          <a:noFill/>
          <a:ln cap="flat" cmpd="sng" w="28575">
            <a:solidFill>
              <a:srgbClr val="181DA0"/>
            </a:solidFill>
            <a:prstDash val="solid"/>
            <a:miter lim="800000"/>
            <a:headEnd len="sm" w="sm" type="none"/>
            <a:tailEnd len="sm" w="sm" type="none"/>
          </a:ln>
        </p:spPr>
      </p:cxnSp>
      <p:sp>
        <p:nvSpPr>
          <p:cNvPr id="462" name="Google Shape;462;p14"/>
          <p:cNvSpPr/>
          <p:nvPr/>
        </p:nvSpPr>
        <p:spPr>
          <a:xfrm>
            <a:off x="9712543" y="1148979"/>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463" name="Google Shape;463;p14"/>
          <p:cNvSpPr/>
          <p:nvPr/>
        </p:nvSpPr>
        <p:spPr>
          <a:xfrm>
            <a:off x="8037304" y="1467762"/>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Prédiction</a:t>
            </a:r>
            <a:endParaRPr/>
          </a:p>
        </p:txBody>
      </p:sp>
      <p:sp>
        <p:nvSpPr>
          <p:cNvPr id="464" name="Google Shape;464;p14"/>
          <p:cNvSpPr/>
          <p:nvPr/>
        </p:nvSpPr>
        <p:spPr>
          <a:xfrm>
            <a:off x="9650743" y="1467761"/>
            <a:ext cx="571010"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sp>
        <p:nvSpPr>
          <p:cNvPr id="465" name="Google Shape;465;p14"/>
          <p:cNvSpPr/>
          <p:nvPr/>
        </p:nvSpPr>
        <p:spPr>
          <a:xfrm>
            <a:off x="7535167" y="2299566"/>
            <a:ext cx="3354244" cy="461665"/>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Matrice de confusion</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Compte rendu sur l’état des prédictions</a:t>
            </a:r>
            <a:endParaRPr/>
          </a:p>
        </p:txBody>
      </p:sp>
      <p:sp>
        <p:nvSpPr>
          <p:cNvPr id="466" name="Google Shape;466;p14"/>
          <p:cNvSpPr/>
          <p:nvPr/>
        </p:nvSpPr>
        <p:spPr>
          <a:xfrm>
            <a:off x="7537820" y="2947512"/>
            <a:ext cx="3354244" cy="1569660"/>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F1-Score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Rappel -&gt; Mesure la qualité d’identification des vrais exemples positifs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Précision -&gt; Mesure la qualité des prédictions positives correctes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 et inversement</a:t>
            </a:r>
            <a:endParaRPr/>
          </a:p>
        </p:txBody>
      </p:sp>
      <p:sp>
        <p:nvSpPr>
          <p:cNvPr id="467" name="Google Shape;467;p14"/>
          <p:cNvSpPr/>
          <p:nvPr/>
        </p:nvSpPr>
        <p:spPr>
          <a:xfrm>
            <a:off x="7631330" y="4564955"/>
            <a:ext cx="3354244" cy="1292662"/>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F-Beta Score – Validation croisée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Variante du F1-Score -&gt; Donne plus de poids à la mesure de Rappel</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Minimiser les faux négatifs – Détection de fraude</a:t>
            </a:r>
            <a:endParaRPr/>
          </a:p>
        </p:txBody>
      </p:sp>
      <p:sp>
        <p:nvSpPr>
          <p:cNvPr id="468" name="Google Shape;468;p14"/>
          <p:cNvSpPr/>
          <p:nvPr/>
        </p:nvSpPr>
        <p:spPr>
          <a:xfrm>
            <a:off x="11135236" y="2414429"/>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 300</a:t>
            </a:r>
            <a:endParaRPr/>
          </a:p>
        </p:txBody>
      </p:sp>
      <p:sp>
        <p:nvSpPr>
          <p:cNvPr id="469" name="Google Shape;469;p14"/>
          <p:cNvSpPr/>
          <p:nvPr/>
        </p:nvSpPr>
        <p:spPr>
          <a:xfrm>
            <a:off x="11135236" y="3732342"/>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0,9921</a:t>
            </a:r>
            <a:endParaRPr/>
          </a:p>
        </p:txBody>
      </p:sp>
      <p:sp>
        <p:nvSpPr>
          <p:cNvPr id="470" name="Google Shape;470;p14"/>
          <p:cNvSpPr/>
          <p:nvPr/>
        </p:nvSpPr>
        <p:spPr>
          <a:xfrm>
            <a:off x="11151877" y="5050255"/>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0,9953</a:t>
            </a:r>
            <a:endParaRPr/>
          </a:p>
        </p:txBody>
      </p:sp>
      <p:sp>
        <p:nvSpPr>
          <p:cNvPr id="471" name="Google Shape;471;p14"/>
          <p:cNvSpPr/>
          <p:nvPr/>
        </p:nvSpPr>
        <p:spPr>
          <a:xfrm>
            <a:off x="3921324" y="1259439"/>
            <a:ext cx="32335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Validation croisée – Choix des paramètres</a:t>
            </a:r>
            <a:endParaRPr/>
          </a:p>
        </p:txBody>
      </p:sp>
      <p:sp>
        <p:nvSpPr>
          <p:cNvPr id="472" name="Google Shape;472;p14"/>
          <p:cNvSpPr/>
          <p:nvPr/>
        </p:nvSpPr>
        <p:spPr>
          <a:xfrm>
            <a:off x="4179208" y="1973302"/>
            <a:ext cx="2841842" cy="2543869"/>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473" name="Google Shape;473;p14"/>
          <p:cNvSpPr/>
          <p:nvPr/>
        </p:nvSpPr>
        <p:spPr>
          <a:xfrm>
            <a:off x="4287067" y="2018637"/>
            <a:ext cx="2658858" cy="2462213"/>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subsample -&gt; 0,9</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reg_lambda -&gt; 1</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reg_alpha -&gt; 0</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max_depth -&gt; 3</a:t>
            </a:r>
            <a:endParaRPr sz="2000">
              <a:solidFill>
                <a:schemeClr val="dk1"/>
              </a:solidFill>
              <a:latin typeface="Calibri"/>
              <a:ea typeface="Calibri"/>
              <a:cs typeface="Calibri"/>
              <a:sym typeface="Calibri"/>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learning_rate -&gt; 0,1</a:t>
            </a:r>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gamma -&gt; 0,3</a:t>
            </a:r>
            <a:endParaRPr/>
          </a:p>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colsample_bytree -&gt; 0,6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5"/>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479" name="Google Shape;479;p15"/>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480" name="Google Shape;480;p15"/>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481" name="Google Shape;481;p15"/>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15</a:t>
            </a:r>
            <a:endParaRPr/>
          </a:p>
        </p:txBody>
      </p:sp>
      <p:sp>
        <p:nvSpPr>
          <p:cNvPr id="482" name="Google Shape;482;p15"/>
          <p:cNvSpPr txBox="1"/>
          <p:nvPr/>
        </p:nvSpPr>
        <p:spPr>
          <a:xfrm>
            <a:off x="413335" y="217328"/>
            <a:ext cx="58166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Stacking – Random Forest x XGBoost</a:t>
            </a:r>
            <a:endParaRPr b="1" sz="2800">
              <a:solidFill>
                <a:schemeClr val="dk1"/>
              </a:solidFill>
              <a:latin typeface="Calibri"/>
              <a:ea typeface="Calibri"/>
              <a:cs typeface="Calibri"/>
              <a:sym typeface="Calibri"/>
            </a:endParaRPr>
          </a:p>
        </p:txBody>
      </p:sp>
      <p:sp>
        <p:nvSpPr>
          <p:cNvPr id="483" name="Google Shape;483;p15"/>
          <p:cNvSpPr/>
          <p:nvPr/>
        </p:nvSpPr>
        <p:spPr>
          <a:xfrm>
            <a:off x="88036" y="126528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1. Préparation des données</a:t>
            </a:r>
            <a:endParaRPr/>
          </a:p>
        </p:txBody>
      </p:sp>
      <p:sp>
        <p:nvSpPr>
          <p:cNvPr id="484" name="Google Shape;484;p15"/>
          <p:cNvSpPr/>
          <p:nvPr/>
        </p:nvSpPr>
        <p:spPr>
          <a:xfrm>
            <a:off x="149777" y="2942362"/>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 Division du jeu de données</a:t>
            </a:r>
            <a:endParaRPr/>
          </a:p>
        </p:txBody>
      </p:sp>
      <p:sp>
        <p:nvSpPr>
          <p:cNvPr id="485" name="Google Shape;485;p15"/>
          <p:cNvSpPr/>
          <p:nvPr/>
        </p:nvSpPr>
        <p:spPr>
          <a:xfrm>
            <a:off x="-313877" y="4653615"/>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3. Choix de la donnée</a:t>
            </a:r>
            <a:endParaRPr/>
          </a:p>
        </p:txBody>
      </p:sp>
      <p:cxnSp>
        <p:nvCxnSpPr>
          <p:cNvPr id="486" name="Google Shape;486;p15"/>
          <p:cNvCxnSpPr/>
          <p:nvPr/>
        </p:nvCxnSpPr>
        <p:spPr>
          <a:xfrm>
            <a:off x="445528" y="4961392"/>
            <a:ext cx="0" cy="425981"/>
          </a:xfrm>
          <a:prstGeom prst="straightConnector1">
            <a:avLst/>
          </a:prstGeom>
          <a:noFill/>
          <a:ln cap="flat" cmpd="sng" w="38100">
            <a:solidFill>
              <a:srgbClr val="181DA0"/>
            </a:solidFill>
            <a:prstDash val="solid"/>
            <a:miter lim="800000"/>
            <a:headEnd len="sm" w="sm" type="none"/>
            <a:tailEnd len="sm" w="sm" type="none"/>
          </a:ln>
        </p:spPr>
      </p:cxnSp>
      <p:cxnSp>
        <p:nvCxnSpPr>
          <p:cNvPr id="487" name="Google Shape;487;p15"/>
          <p:cNvCxnSpPr/>
          <p:nvPr/>
        </p:nvCxnSpPr>
        <p:spPr>
          <a:xfrm>
            <a:off x="431240" y="5369116"/>
            <a:ext cx="601469" cy="0"/>
          </a:xfrm>
          <a:prstGeom prst="straightConnector1">
            <a:avLst/>
          </a:prstGeom>
          <a:noFill/>
          <a:ln cap="flat" cmpd="sng" w="38100">
            <a:solidFill>
              <a:srgbClr val="181DA0"/>
            </a:solidFill>
            <a:prstDash val="solid"/>
            <a:miter lim="800000"/>
            <a:headEnd len="sm" w="sm" type="none"/>
            <a:tailEnd len="med" w="med" type="triangle"/>
          </a:ln>
        </p:spPr>
      </p:cxnSp>
      <p:sp>
        <p:nvSpPr>
          <p:cNvPr id="488" name="Google Shape;488;p15"/>
          <p:cNvSpPr/>
          <p:nvPr/>
        </p:nvSpPr>
        <p:spPr>
          <a:xfrm>
            <a:off x="1012845" y="5202468"/>
            <a:ext cx="2202390" cy="83099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 brute – Chaque variable traitée indépendamment</a:t>
            </a:r>
            <a:endParaRPr/>
          </a:p>
        </p:txBody>
      </p:sp>
      <p:sp>
        <p:nvSpPr>
          <p:cNvPr id="489" name="Google Shape;489;p15"/>
          <p:cNvSpPr/>
          <p:nvPr/>
        </p:nvSpPr>
        <p:spPr>
          <a:xfrm>
            <a:off x="8196" y="1668625"/>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X</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Variables de dimension</a:t>
            </a:r>
            <a:endParaRPr/>
          </a:p>
        </p:txBody>
      </p:sp>
      <p:sp>
        <p:nvSpPr>
          <p:cNvPr id="490" name="Google Shape;490;p15"/>
          <p:cNvSpPr/>
          <p:nvPr/>
        </p:nvSpPr>
        <p:spPr>
          <a:xfrm>
            <a:off x="1707858" y="1668625"/>
            <a:ext cx="2065092" cy="584775"/>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Y</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Is_genuine</a:t>
            </a:r>
            <a:endParaRPr sz="1800">
              <a:solidFill>
                <a:schemeClr val="dk1"/>
              </a:solidFill>
              <a:latin typeface="Calibri"/>
              <a:ea typeface="Calibri"/>
              <a:cs typeface="Calibri"/>
              <a:sym typeface="Calibri"/>
            </a:endParaRPr>
          </a:p>
        </p:txBody>
      </p:sp>
      <p:sp>
        <p:nvSpPr>
          <p:cNvPr id="491" name="Google Shape;491;p15"/>
          <p:cNvSpPr/>
          <p:nvPr/>
        </p:nvSpPr>
        <p:spPr>
          <a:xfrm>
            <a:off x="37592" y="3345702"/>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80 %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d’entraînement</a:t>
            </a:r>
            <a:endParaRPr/>
          </a:p>
        </p:txBody>
      </p:sp>
      <p:sp>
        <p:nvSpPr>
          <p:cNvPr id="492" name="Google Shape;492;p15"/>
          <p:cNvSpPr/>
          <p:nvPr/>
        </p:nvSpPr>
        <p:spPr>
          <a:xfrm>
            <a:off x="1718567" y="3345702"/>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493" name="Google Shape;493;p15"/>
          <p:cNvSpPr/>
          <p:nvPr/>
        </p:nvSpPr>
        <p:spPr>
          <a:xfrm>
            <a:off x="3962724" y="2942361"/>
            <a:ext cx="323359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5. Entraînement du modèle</a:t>
            </a:r>
            <a:endParaRPr/>
          </a:p>
        </p:txBody>
      </p:sp>
      <p:sp>
        <p:nvSpPr>
          <p:cNvPr id="494" name="Google Shape;494;p15"/>
          <p:cNvSpPr/>
          <p:nvPr/>
        </p:nvSpPr>
        <p:spPr>
          <a:xfrm>
            <a:off x="7631330" y="372823"/>
            <a:ext cx="4077537"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6. Prédiction et évaluation des performances</a:t>
            </a:r>
            <a:endParaRPr/>
          </a:p>
        </p:txBody>
      </p:sp>
      <p:cxnSp>
        <p:nvCxnSpPr>
          <p:cNvPr id="495" name="Google Shape;495;p15"/>
          <p:cNvCxnSpPr/>
          <p:nvPr/>
        </p:nvCxnSpPr>
        <p:spPr>
          <a:xfrm>
            <a:off x="6299201" y="220429"/>
            <a:ext cx="0" cy="685861"/>
          </a:xfrm>
          <a:prstGeom prst="straightConnector1">
            <a:avLst/>
          </a:prstGeom>
          <a:noFill/>
          <a:ln cap="flat" cmpd="sng" w="28575">
            <a:solidFill>
              <a:srgbClr val="181DA0"/>
            </a:solidFill>
            <a:prstDash val="solid"/>
            <a:miter lim="800000"/>
            <a:headEnd len="sm" w="sm" type="none"/>
            <a:tailEnd len="sm" w="sm" type="none"/>
          </a:ln>
        </p:spPr>
      </p:cxnSp>
      <p:cxnSp>
        <p:nvCxnSpPr>
          <p:cNvPr id="496" name="Google Shape;496;p15"/>
          <p:cNvCxnSpPr/>
          <p:nvPr/>
        </p:nvCxnSpPr>
        <p:spPr>
          <a:xfrm rot="10800000">
            <a:off x="567267" y="906290"/>
            <a:ext cx="5731934" cy="7196"/>
          </a:xfrm>
          <a:prstGeom prst="straightConnector1">
            <a:avLst/>
          </a:prstGeom>
          <a:noFill/>
          <a:ln cap="flat" cmpd="sng" w="28575">
            <a:solidFill>
              <a:srgbClr val="181DA0"/>
            </a:solidFill>
            <a:prstDash val="solid"/>
            <a:miter lim="800000"/>
            <a:headEnd len="sm" w="sm" type="none"/>
            <a:tailEnd len="sm" w="sm" type="none"/>
          </a:ln>
        </p:spPr>
      </p:cxnSp>
      <p:sp>
        <p:nvSpPr>
          <p:cNvPr id="497" name="Google Shape;497;p15"/>
          <p:cNvSpPr/>
          <p:nvPr/>
        </p:nvSpPr>
        <p:spPr>
          <a:xfrm>
            <a:off x="9712543" y="1148979"/>
            <a:ext cx="2065092" cy="861774"/>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20 %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Données </a:t>
            </a:r>
            <a:endParaRPr/>
          </a:p>
          <a:p>
            <a:pPr indent="0" lvl="0" marL="0" marR="0" rtl="0" algn="ctr">
              <a:spcBef>
                <a:spcPts val="0"/>
              </a:spcBef>
              <a:spcAft>
                <a:spcPts val="0"/>
              </a:spcAft>
              <a:buNone/>
            </a:pPr>
            <a:r>
              <a:rPr lang="fr-FR" sz="1800">
                <a:solidFill>
                  <a:schemeClr val="dk1"/>
                </a:solidFill>
                <a:latin typeface="Calibri"/>
                <a:ea typeface="Calibri"/>
                <a:cs typeface="Calibri"/>
                <a:sym typeface="Calibri"/>
              </a:rPr>
              <a:t>de test</a:t>
            </a:r>
            <a:endParaRPr/>
          </a:p>
        </p:txBody>
      </p:sp>
      <p:sp>
        <p:nvSpPr>
          <p:cNvPr id="498" name="Google Shape;498;p15"/>
          <p:cNvSpPr/>
          <p:nvPr/>
        </p:nvSpPr>
        <p:spPr>
          <a:xfrm>
            <a:off x="8037304" y="1467762"/>
            <a:ext cx="2065092"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Prédiction</a:t>
            </a:r>
            <a:endParaRPr/>
          </a:p>
        </p:txBody>
      </p:sp>
      <p:sp>
        <p:nvSpPr>
          <p:cNvPr id="499" name="Google Shape;499;p15"/>
          <p:cNvSpPr/>
          <p:nvPr/>
        </p:nvSpPr>
        <p:spPr>
          <a:xfrm>
            <a:off x="9650743" y="1467761"/>
            <a:ext cx="571010"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a:t>
            </a:r>
            <a:endParaRPr/>
          </a:p>
        </p:txBody>
      </p:sp>
      <p:sp>
        <p:nvSpPr>
          <p:cNvPr id="500" name="Google Shape;500;p15"/>
          <p:cNvSpPr/>
          <p:nvPr/>
        </p:nvSpPr>
        <p:spPr>
          <a:xfrm>
            <a:off x="7535167" y="2299566"/>
            <a:ext cx="3354244" cy="461665"/>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Matrice de confusion</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Compte rendu sur l’état des prédictions</a:t>
            </a:r>
            <a:endParaRPr/>
          </a:p>
        </p:txBody>
      </p:sp>
      <p:sp>
        <p:nvSpPr>
          <p:cNvPr id="501" name="Google Shape;501;p15"/>
          <p:cNvSpPr/>
          <p:nvPr/>
        </p:nvSpPr>
        <p:spPr>
          <a:xfrm>
            <a:off x="7537820" y="2947512"/>
            <a:ext cx="3354244" cy="1569660"/>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F1-Score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Rappel -&gt; Mesure la qualité d’identification des vrais exemples positifs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Précision -&gt; Mesure la qualité des prédictions positives correctes</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Proche de 1 -&gt; Bon ajustement du modèle et inversement</a:t>
            </a:r>
            <a:endParaRPr/>
          </a:p>
        </p:txBody>
      </p:sp>
      <p:sp>
        <p:nvSpPr>
          <p:cNvPr id="502" name="Google Shape;502;p15"/>
          <p:cNvSpPr/>
          <p:nvPr/>
        </p:nvSpPr>
        <p:spPr>
          <a:xfrm>
            <a:off x="7631330" y="4564955"/>
            <a:ext cx="3354244" cy="1292662"/>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1800"/>
              <a:buFont typeface="Arial"/>
              <a:buChar char="•"/>
            </a:pPr>
            <a:r>
              <a:rPr lang="fr-FR" sz="1800">
                <a:solidFill>
                  <a:schemeClr val="dk1"/>
                </a:solidFill>
                <a:latin typeface="Calibri"/>
                <a:ea typeface="Calibri"/>
                <a:cs typeface="Calibri"/>
                <a:sym typeface="Calibri"/>
              </a:rPr>
              <a:t>F-Beta Score – Validation croisée</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Variante du F1-Score -&gt; Donne plus de poids à la mesure de Rappel</a:t>
            </a:r>
            <a:endParaRPr/>
          </a:p>
          <a:p>
            <a:pPr indent="-342900" lvl="1" marL="800100" marR="0" rtl="0" algn="l">
              <a:spcBef>
                <a:spcPts val="0"/>
              </a:spcBef>
              <a:spcAft>
                <a:spcPts val="0"/>
              </a:spcAft>
              <a:buClr>
                <a:schemeClr val="dk1"/>
              </a:buClr>
              <a:buSzPts val="1200"/>
              <a:buFont typeface="Arial"/>
              <a:buChar char="•"/>
            </a:pPr>
            <a:r>
              <a:rPr b="0" i="0" lang="fr-FR" sz="1200" u="none" cap="none" strike="noStrike">
                <a:solidFill>
                  <a:schemeClr val="dk1"/>
                </a:solidFill>
                <a:latin typeface="Calibri"/>
                <a:ea typeface="Calibri"/>
                <a:cs typeface="Calibri"/>
                <a:sym typeface="Calibri"/>
              </a:rPr>
              <a:t>Minimiser les faux négatifs – Détection de fraude</a:t>
            </a:r>
            <a:endParaRPr/>
          </a:p>
        </p:txBody>
      </p:sp>
      <p:sp>
        <p:nvSpPr>
          <p:cNvPr id="503" name="Google Shape;503;p15"/>
          <p:cNvSpPr/>
          <p:nvPr/>
        </p:nvSpPr>
        <p:spPr>
          <a:xfrm>
            <a:off x="11135236" y="2414429"/>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 300</a:t>
            </a:r>
            <a:endParaRPr/>
          </a:p>
        </p:txBody>
      </p:sp>
      <p:sp>
        <p:nvSpPr>
          <p:cNvPr id="504" name="Google Shape;504;p15"/>
          <p:cNvSpPr/>
          <p:nvPr/>
        </p:nvSpPr>
        <p:spPr>
          <a:xfrm>
            <a:off x="11135236" y="3732342"/>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0,9895</a:t>
            </a:r>
            <a:endParaRPr/>
          </a:p>
        </p:txBody>
      </p:sp>
      <p:sp>
        <p:nvSpPr>
          <p:cNvPr id="505" name="Google Shape;505;p15"/>
          <p:cNvSpPr/>
          <p:nvPr/>
        </p:nvSpPr>
        <p:spPr>
          <a:xfrm>
            <a:off x="11151877" y="5050255"/>
            <a:ext cx="738939" cy="3077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0,9953</a:t>
            </a:r>
            <a:endParaRPr/>
          </a:p>
        </p:txBody>
      </p:sp>
      <p:sp>
        <p:nvSpPr>
          <p:cNvPr id="506" name="Google Shape;506;p15"/>
          <p:cNvSpPr/>
          <p:nvPr/>
        </p:nvSpPr>
        <p:spPr>
          <a:xfrm>
            <a:off x="3962725" y="1272089"/>
            <a:ext cx="3233599" cy="615553"/>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000">
                <a:solidFill>
                  <a:schemeClr val="dk1"/>
                </a:solidFill>
                <a:latin typeface="Calibri"/>
                <a:ea typeface="Calibri"/>
                <a:cs typeface="Calibri"/>
                <a:sym typeface="Calibri"/>
              </a:rPr>
              <a:t>4. Validation croisée – Choix des paramètres</a:t>
            </a:r>
            <a:endParaRPr/>
          </a:p>
        </p:txBody>
      </p:sp>
      <p:sp>
        <p:nvSpPr>
          <p:cNvPr id="507" name="Google Shape;507;p15"/>
          <p:cNvSpPr/>
          <p:nvPr/>
        </p:nvSpPr>
        <p:spPr>
          <a:xfrm>
            <a:off x="4191671" y="1993819"/>
            <a:ext cx="2841842" cy="853032"/>
          </a:xfrm>
          <a:prstGeom prst="rect">
            <a:avLst/>
          </a:prstGeom>
          <a:noFill/>
          <a:ln cap="flat" cmpd="sng" w="38100">
            <a:solidFill>
              <a:srgbClr val="181DA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Quattrocento Sans"/>
              <a:ea typeface="Quattrocento Sans"/>
              <a:cs typeface="Quattrocento Sans"/>
              <a:sym typeface="Quattrocento Sans"/>
            </a:endParaRPr>
          </a:p>
        </p:txBody>
      </p:sp>
      <p:sp>
        <p:nvSpPr>
          <p:cNvPr id="508" name="Google Shape;508;p15"/>
          <p:cNvSpPr/>
          <p:nvPr/>
        </p:nvSpPr>
        <p:spPr>
          <a:xfrm>
            <a:off x="4299530" y="2148427"/>
            <a:ext cx="2658858" cy="615553"/>
          </a:xfrm>
          <a:prstGeom prst="rect">
            <a:avLst/>
          </a:prstGeom>
          <a:noFill/>
          <a:ln>
            <a:noFill/>
          </a:ln>
        </p:spPr>
        <p:txBody>
          <a:bodyPr anchorCtr="0" anchor="ctr" bIns="0" lIns="0" spcFirstLastPara="1" rIns="0" wrap="square" tIns="0">
            <a:spAutoFit/>
          </a:bodyPr>
          <a:lstStyle/>
          <a:p>
            <a:pPr indent="-342900" lvl="0" marL="342900" marR="0" rtl="0" algn="l">
              <a:spcBef>
                <a:spcPts val="0"/>
              </a:spcBef>
              <a:spcAft>
                <a:spcPts val="0"/>
              </a:spcAft>
              <a:buClr>
                <a:schemeClr val="dk1"/>
              </a:buClr>
              <a:buSzPts val="2000"/>
              <a:buFont typeface="Arial"/>
              <a:buChar char="•"/>
            </a:pPr>
            <a:r>
              <a:rPr lang="fr-FR" sz="2000">
                <a:solidFill>
                  <a:schemeClr val="dk1"/>
                </a:solidFill>
                <a:latin typeface="Calibri"/>
                <a:ea typeface="Calibri"/>
                <a:cs typeface="Calibri"/>
                <a:sym typeface="Calibri"/>
              </a:rPr>
              <a:t>Final_estimator_c -&gt; 0,01</a:t>
            </a:r>
            <a:endParaRPr sz="20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cxnSp>
        <p:nvCxnSpPr>
          <p:cNvPr id="513" name="Google Shape;513;p16"/>
          <p:cNvCxnSpPr/>
          <p:nvPr/>
        </p:nvCxnSpPr>
        <p:spPr>
          <a:xfrm>
            <a:off x="8105775" y="522898"/>
            <a:ext cx="4086225" cy="0"/>
          </a:xfrm>
          <a:prstGeom prst="straightConnector1">
            <a:avLst/>
          </a:prstGeom>
          <a:noFill/>
          <a:ln cap="flat" cmpd="sng" w="9525">
            <a:solidFill>
              <a:srgbClr val="717171"/>
            </a:solidFill>
            <a:prstDash val="solid"/>
            <a:miter lim="800000"/>
            <a:headEnd len="med" w="med" type="oval"/>
            <a:tailEnd len="sm" w="sm" type="none"/>
          </a:ln>
        </p:spPr>
      </p:cxnSp>
      <p:sp>
        <p:nvSpPr>
          <p:cNvPr id="514" name="Google Shape;514;p16"/>
          <p:cNvSpPr txBox="1"/>
          <p:nvPr/>
        </p:nvSpPr>
        <p:spPr>
          <a:xfrm>
            <a:off x="228600" y="190500"/>
            <a:ext cx="11734800" cy="775597"/>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3F3F3F"/>
              </a:buClr>
              <a:buSzPts val="2800"/>
              <a:buFont typeface="Century Gothic"/>
              <a:buNone/>
            </a:pPr>
            <a:r>
              <a:rPr lang="fr-FR" sz="2800">
                <a:solidFill>
                  <a:srgbClr val="3F3F3F"/>
                </a:solidFill>
                <a:latin typeface="Century Gothic"/>
                <a:ea typeface="Century Gothic"/>
                <a:cs typeface="Century Gothic"/>
                <a:sym typeface="Century Gothic"/>
              </a:rPr>
              <a:t>Sélection du</a:t>
            </a:r>
            <a:endParaRPr/>
          </a:p>
          <a:p>
            <a:pPr indent="0" lvl="0" marL="0" marR="0" rtl="0" algn="ctr">
              <a:lnSpc>
                <a:spcPct val="90000"/>
              </a:lnSpc>
              <a:spcBef>
                <a:spcPts val="0"/>
              </a:spcBef>
              <a:spcAft>
                <a:spcPts val="0"/>
              </a:spcAft>
              <a:buClr>
                <a:srgbClr val="3F3F3F"/>
              </a:buClr>
              <a:buSzPts val="2800"/>
              <a:buFont typeface="Century Gothic"/>
              <a:buNone/>
            </a:pPr>
            <a:r>
              <a:rPr lang="fr-FR" sz="2800">
                <a:solidFill>
                  <a:srgbClr val="3F3F3F"/>
                </a:solidFill>
                <a:latin typeface="Century Gothic"/>
                <a:ea typeface="Century Gothic"/>
                <a:cs typeface="Century Gothic"/>
                <a:sym typeface="Century Gothic"/>
              </a:rPr>
              <a:t>meilleur modèle</a:t>
            </a:r>
            <a:endParaRPr/>
          </a:p>
        </p:txBody>
      </p:sp>
      <p:cxnSp>
        <p:nvCxnSpPr>
          <p:cNvPr id="515" name="Google Shape;515;p16"/>
          <p:cNvCxnSpPr/>
          <p:nvPr/>
        </p:nvCxnSpPr>
        <p:spPr>
          <a:xfrm>
            <a:off x="0" y="522898"/>
            <a:ext cx="4086225" cy="0"/>
          </a:xfrm>
          <a:prstGeom prst="straightConnector1">
            <a:avLst/>
          </a:prstGeom>
          <a:noFill/>
          <a:ln cap="flat" cmpd="sng" w="9525">
            <a:solidFill>
              <a:srgbClr val="717171"/>
            </a:solidFill>
            <a:prstDash val="solid"/>
            <a:miter lim="800000"/>
            <a:headEnd len="sm" w="sm" type="none"/>
            <a:tailEnd len="med" w="med" type="oval"/>
          </a:ln>
        </p:spPr>
      </p:cxnSp>
      <p:sp>
        <p:nvSpPr>
          <p:cNvPr id="516" name="Google Shape;516;p16"/>
          <p:cNvSpPr/>
          <p:nvPr/>
        </p:nvSpPr>
        <p:spPr>
          <a:xfrm>
            <a:off x="11782915" y="6515654"/>
            <a:ext cx="271634" cy="303692"/>
          </a:xfrm>
          <a:prstGeom prst="ellipse">
            <a:avLst/>
          </a:prstGeom>
          <a:solidFill>
            <a:srgbClr val="181DA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B0301"/>
              </a:solidFill>
              <a:latin typeface="Quattrocento Sans"/>
              <a:ea typeface="Quattrocento Sans"/>
              <a:cs typeface="Quattrocento Sans"/>
              <a:sym typeface="Quattrocento Sans"/>
            </a:endParaRPr>
          </a:p>
        </p:txBody>
      </p:sp>
      <p:pic>
        <p:nvPicPr>
          <p:cNvPr id="517" name="Google Shape;517;p16"/>
          <p:cNvPicPr preferRelativeResize="0"/>
          <p:nvPr/>
        </p:nvPicPr>
        <p:blipFill rotWithShape="1">
          <a:blip r:embed="rId3">
            <a:alphaModFix/>
          </a:blip>
          <a:srcRect b="19360" l="0" r="0" t="16164"/>
          <a:stretch/>
        </p:blipFill>
        <p:spPr>
          <a:xfrm>
            <a:off x="37592" y="6548411"/>
            <a:ext cx="382015" cy="246307"/>
          </a:xfrm>
          <a:prstGeom prst="rect">
            <a:avLst/>
          </a:prstGeom>
          <a:noFill/>
          <a:ln>
            <a:noFill/>
          </a:ln>
        </p:spPr>
      </p:pic>
      <p:sp>
        <p:nvSpPr>
          <p:cNvPr id="518" name="Google Shape;518;p16"/>
          <p:cNvSpPr txBox="1"/>
          <p:nvPr/>
        </p:nvSpPr>
        <p:spPr>
          <a:xfrm>
            <a:off x="419607" y="6588464"/>
            <a:ext cx="659963" cy="166199"/>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181DA0"/>
              </a:buClr>
              <a:buSzPts val="1200"/>
              <a:buFont typeface="Century Gothic"/>
              <a:buNone/>
            </a:pPr>
            <a:r>
              <a:rPr lang="fr-FR" sz="1200">
                <a:solidFill>
                  <a:srgbClr val="181DA0"/>
                </a:solidFill>
                <a:latin typeface="Century Gothic"/>
                <a:ea typeface="Century Gothic"/>
                <a:cs typeface="Century Gothic"/>
                <a:sym typeface="Century Gothic"/>
              </a:rPr>
              <a:t>ONFCM</a:t>
            </a:r>
            <a:endParaRPr/>
          </a:p>
        </p:txBody>
      </p:sp>
      <p:sp>
        <p:nvSpPr>
          <p:cNvPr id="519" name="Google Shape;519;p16"/>
          <p:cNvSpPr/>
          <p:nvPr/>
        </p:nvSpPr>
        <p:spPr>
          <a:xfrm>
            <a:off x="11714148" y="6577547"/>
            <a:ext cx="409168" cy="16927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1100">
                <a:solidFill>
                  <a:schemeClr val="lt1"/>
                </a:solidFill>
                <a:latin typeface="Quattrocento Sans"/>
                <a:ea typeface="Quattrocento Sans"/>
                <a:cs typeface="Quattrocento Sans"/>
                <a:sym typeface="Quattrocento Sans"/>
              </a:rPr>
              <a:t>16</a:t>
            </a:r>
            <a:endParaRPr/>
          </a:p>
        </p:txBody>
      </p:sp>
      <p:sp>
        <p:nvSpPr>
          <p:cNvPr id="520" name="Google Shape;520;p16"/>
          <p:cNvSpPr txBox="1"/>
          <p:nvPr/>
        </p:nvSpPr>
        <p:spPr>
          <a:xfrm>
            <a:off x="-983721" y="1489056"/>
            <a:ext cx="58166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00B050"/>
                </a:solidFill>
                <a:latin typeface="Calibri"/>
                <a:ea typeface="Calibri"/>
                <a:cs typeface="Calibri"/>
                <a:sym typeface="Calibri"/>
              </a:rPr>
              <a:t>Régression logistique</a:t>
            </a:r>
            <a:endParaRPr/>
          </a:p>
        </p:txBody>
      </p:sp>
      <p:sp>
        <p:nvSpPr>
          <p:cNvPr id="521" name="Google Shape;521;p16"/>
          <p:cNvSpPr txBox="1"/>
          <p:nvPr/>
        </p:nvSpPr>
        <p:spPr>
          <a:xfrm>
            <a:off x="245533" y="2334614"/>
            <a:ext cx="145995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KMeans</a:t>
            </a:r>
            <a:endParaRPr b="1" sz="2800">
              <a:solidFill>
                <a:srgbClr val="FF0000"/>
              </a:solidFill>
              <a:latin typeface="Calibri"/>
              <a:ea typeface="Calibri"/>
              <a:cs typeface="Calibri"/>
              <a:sym typeface="Calibri"/>
            </a:endParaRPr>
          </a:p>
        </p:txBody>
      </p:sp>
      <p:sp>
        <p:nvSpPr>
          <p:cNvPr id="522" name="Google Shape;522;p16"/>
          <p:cNvSpPr txBox="1"/>
          <p:nvPr/>
        </p:nvSpPr>
        <p:spPr>
          <a:xfrm>
            <a:off x="245533" y="3180172"/>
            <a:ext cx="394948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Bagging – Random Forest</a:t>
            </a:r>
            <a:endParaRPr/>
          </a:p>
        </p:txBody>
      </p:sp>
      <p:sp>
        <p:nvSpPr>
          <p:cNvPr id="523" name="Google Shape;523;p16"/>
          <p:cNvSpPr txBox="1"/>
          <p:nvPr/>
        </p:nvSpPr>
        <p:spPr>
          <a:xfrm>
            <a:off x="237066" y="4025730"/>
            <a:ext cx="3127396"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Boosting – XGBoost</a:t>
            </a:r>
            <a:endParaRPr b="1" sz="2800">
              <a:solidFill>
                <a:srgbClr val="FF0000"/>
              </a:solidFill>
              <a:latin typeface="Calibri"/>
              <a:ea typeface="Calibri"/>
              <a:cs typeface="Calibri"/>
              <a:sym typeface="Calibri"/>
            </a:endParaRPr>
          </a:p>
        </p:txBody>
      </p:sp>
      <p:sp>
        <p:nvSpPr>
          <p:cNvPr id="524" name="Google Shape;524;p16"/>
          <p:cNvSpPr txBox="1"/>
          <p:nvPr/>
        </p:nvSpPr>
        <p:spPr>
          <a:xfrm>
            <a:off x="237066" y="4871288"/>
            <a:ext cx="4268788"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Stacking – Random Forest x XGBoost</a:t>
            </a:r>
            <a:endParaRPr b="1" sz="2800">
              <a:solidFill>
                <a:srgbClr val="FF0000"/>
              </a:solidFill>
              <a:latin typeface="Calibri"/>
              <a:ea typeface="Calibri"/>
              <a:cs typeface="Calibri"/>
              <a:sym typeface="Calibri"/>
            </a:endParaRPr>
          </a:p>
        </p:txBody>
      </p:sp>
      <p:sp>
        <p:nvSpPr>
          <p:cNvPr id="525" name="Google Shape;525;p16"/>
          <p:cNvSpPr/>
          <p:nvPr/>
        </p:nvSpPr>
        <p:spPr>
          <a:xfrm>
            <a:off x="4963325" y="1535222"/>
            <a:ext cx="1022609"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rgbClr val="00B050"/>
                </a:solidFill>
                <a:latin typeface="Calibri"/>
                <a:ea typeface="Calibri"/>
                <a:cs typeface="Calibri"/>
                <a:sym typeface="Calibri"/>
              </a:rPr>
              <a:t>0,9978</a:t>
            </a:r>
            <a:endParaRPr/>
          </a:p>
        </p:txBody>
      </p:sp>
      <p:sp>
        <p:nvSpPr>
          <p:cNvPr id="526" name="Google Shape;526;p16"/>
          <p:cNvSpPr/>
          <p:nvPr/>
        </p:nvSpPr>
        <p:spPr>
          <a:xfrm>
            <a:off x="4963324" y="2380780"/>
            <a:ext cx="1022609"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0,9919</a:t>
            </a:r>
            <a:endParaRPr/>
          </a:p>
        </p:txBody>
      </p:sp>
      <p:sp>
        <p:nvSpPr>
          <p:cNvPr id="527" name="Google Shape;527;p16"/>
          <p:cNvSpPr/>
          <p:nvPr/>
        </p:nvSpPr>
        <p:spPr>
          <a:xfrm>
            <a:off x="4963323" y="3213556"/>
            <a:ext cx="1022609"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0,9943</a:t>
            </a:r>
            <a:endParaRPr/>
          </a:p>
        </p:txBody>
      </p:sp>
      <p:sp>
        <p:nvSpPr>
          <p:cNvPr id="528" name="Google Shape;528;p16"/>
          <p:cNvSpPr/>
          <p:nvPr/>
        </p:nvSpPr>
        <p:spPr>
          <a:xfrm>
            <a:off x="4963323" y="4071896"/>
            <a:ext cx="1022609"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0,9953</a:t>
            </a:r>
            <a:endParaRPr/>
          </a:p>
        </p:txBody>
      </p:sp>
      <p:sp>
        <p:nvSpPr>
          <p:cNvPr id="529" name="Google Shape;529;p16"/>
          <p:cNvSpPr/>
          <p:nvPr/>
        </p:nvSpPr>
        <p:spPr>
          <a:xfrm>
            <a:off x="4963323" y="5059126"/>
            <a:ext cx="1022609" cy="430887"/>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2800">
                <a:solidFill>
                  <a:srgbClr val="FF0000"/>
                </a:solidFill>
                <a:latin typeface="Calibri"/>
                <a:ea typeface="Calibri"/>
                <a:cs typeface="Calibri"/>
                <a:sym typeface="Calibri"/>
              </a:rPr>
              <a:t>0,9953</a:t>
            </a:r>
            <a:endParaRPr/>
          </a:p>
        </p:txBody>
      </p:sp>
      <p:cxnSp>
        <p:nvCxnSpPr>
          <p:cNvPr id="530" name="Google Shape;530;p16"/>
          <p:cNvCxnSpPr/>
          <p:nvPr/>
        </p:nvCxnSpPr>
        <p:spPr>
          <a:xfrm>
            <a:off x="6935988" y="1370173"/>
            <a:ext cx="0" cy="4455222"/>
          </a:xfrm>
          <a:prstGeom prst="straightConnector1">
            <a:avLst/>
          </a:prstGeom>
          <a:noFill/>
          <a:ln cap="flat" cmpd="sng" w="28575">
            <a:solidFill>
              <a:srgbClr val="181DA0"/>
            </a:solidFill>
            <a:prstDash val="solid"/>
            <a:miter lim="800000"/>
            <a:headEnd len="sm" w="sm" type="none"/>
            <a:tailEnd len="sm" w="sm" type="none"/>
          </a:ln>
        </p:spPr>
      </p:cxnSp>
      <p:sp>
        <p:nvSpPr>
          <p:cNvPr id="531" name="Google Shape;531;p16"/>
          <p:cNvSpPr txBox="1"/>
          <p:nvPr/>
        </p:nvSpPr>
        <p:spPr>
          <a:xfrm>
            <a:off x="6666991" y="1442889"/>
            <a:ext cx="5816600"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fr-FR" sz="2800">
                <a:solidFill>
                  <a:schemeClr val="dk1"/>
                </a:solidFill>
                <a:latin typeface="Calibri"/>
                <a:ea typeface="Calibri"/>
                <a:cs typeface="Calibri"/>
                <a:sym typeface="Calibri"/>
              </a:rPr>
              <a:t>« billets_production »</a:t>
            </a:r>
            <a:endParaRPr/>
          </a:p>
        </p:txBody>
      </p:sp>
      <p:sp>
        <p:nvSpPr>
          <p:cNvPr id="532" name="Google Shape;532;p16"/>
          <p:cNvSpPr/>
          <p:nvPr/>
        </p:nvSpPr>
        <p:spPr>
          <a:xfrm>
            <a:off x="7179806" y="2780062"/>
            <a:ext cx="2160955" cy="184665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9600">
                <a:solidFill>
                  <a:schemeClr val="dk1"/>
                </a:solidFill>
                <a:latin typeface="Quattrocento Sans"/>
                <a:ea typeface="Quattrocento Sans"/>
                <a:cs typeface="Quattrocento Sans"/>
                <a:sym typeface="Quattrocento Sans"/>
              </a:rPr>
              <a:t>2</a:t>
            </a:r>
            <a:endParaRPr/>
          </a:p>
          <a:p>
            <a:pPr indent="0" lvl="0" marL="0" marR="0" rtl="0" algn="ctr">
              <a:spcBef>
                <a:spcPts val="0"/>
              </a:spcBef>
              <a:spcAft>
                <a:spcPts val="0"/>
              </a:spcAft>
              <a:buNone/>
            </a:pPr>
            <a:r>
              <a:rPr b="1" lang="fr-FR" sz="2400">
                <a:solidFill>
                  <a:schemeClr val="dk1"/>
                </a:solidFill>
                <a:latin typeface="Quattrocento Sans"/>
                <a:ea typeface="Quattrocento Sans"/>
                <a:cs typeface="Quattrocento Sans"/>
                <a:sym typeface="Quattrocento Sans"/>
              </a:rPr>
              <a:t>billets vrai</a:t>
            </a:r>
            <a:endParaRPr/>
          </a:p>
        </p:txBody>
      </p:sp>
      <p:sp>
        <p:nvSpPr>
          <p:cNvPr id="533" name="Google Shape;533;p16"/>
          <p:cNvSpPr/>
          <p:nvPr/>
        </p:nvSpPr>
        <p:spPr>
          <a:xfrm>
            <a:off x="9679000" y="2780062"/>
            <a:ext cx="2160955" cy="1846659"/>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fr-FR" sz="9600">
                <a:solidFill>
                  <a:schemeClr val="dk1"/>
                </a:solidFill>
                <a:latin typeface="Quattrocento Sans"/>
                <a:ea typeface="Quattrocento Sans"/>
                <a:cs typeface="Quattrocento Sans"/>
                <a:sym typeface="Quattrocento Sans"/>
              </a:rPr>
              <a:t>3</a:t>
            </a:r>
            <a:endParaRPr/>
          </a:p>
          <a:p>
            <a:pPr indent="0" lvl="0" marL="0" marR="0" rtl="0" algn="ctr">
              <a:spcBef>
                <a:spcPts val="0"/>
              </a:spcBef>
              <a:spcAft>
                <a:spcPts val="0"/>
              </a:spcAft>
              <a:buNone/>
            </a:pPr>
            <a:r>
              <a:rPr b="1" lang="fr-FR" sz="2400">
                <a:solidFill>
                  <a:schemeClr val="dk1"/>
                </a:solidFill>
                <a:latin typeface="Quattrocento Sans"/>
                <a:ea typeface="Quattrocento Sans"/>
                <a:cs typeface="Quattrocento Sans"/>
                <a:sym typeface="Quattrocento Sans"/>
              </a:rPr>
              <a:t>billets faux</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Custom 73">
      <a:dk1>
        <a:srgbClr val="000000"/>
      </a:dk1>
      <a:lt1>
        <a:srgbClr val="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2023-11-18T00:49:54Z</dcterms:created>
  <dc:creator>Stéfan Ménard</dc:creator>
</cp:coreProperties>
</file>